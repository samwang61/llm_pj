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25e17bf8e847d9" /><Relationship Type="http://schemas.openxmlformats.org/officeDocument/2006/relationships/extended-properties" Target="/docProps/app.xml" Id="R10e9943043b741c2" /><Relationship Type="http://schemas.openxmlformats.org/officeDocument/2006/relationships/officeDocument" Target="/ppt/presentation.xml" Id="R3685fc389c334f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704fa846c4608"/>
  </p:sldMasterIdLst>
  <p:notesMasterIdLst>
    <p:notesMasterId xmlns:r="http://schemas.openxmlformats.org/officeDocument/2006/relationships" r:id="R7633a78d17c8425f"/>
  </p:notesMasterIdLst>
  <p:sldIdLst>
    <p:sldId xmlns:r="http://schemas.openxmlformats.org/officeDocument/2006/relationships" id="256" r:id="R01ab1e897f844100"/>
    <p:sldId xmlns:r="http://schemas.openxmlformats.org/officeDocument/2006/relationships" id="257" r:id="Rb93fe400a7fe4fbd"/>
    <p:sldId xmlns:r="http://schemas.openxmlformats.org/officeDocument/2006/relationships" id="258" r:id="R6b7f1173098f48a0"/>
    <p:sldId xmlns:r="http://schemas.openxmlformats.org/officeDocument/2006/relationships" id="259" r:id="R830f64c1a6a945f1"/>
    <p:sldId xmlns:r="http://schemas.openxmlformats.org/officeDocument/2006/relationships" id="260" r:id="Rc932a77275434230"/>
    <p:sldId xmlns:r="http://schemas.openxmlformats.org/officeDocument/2006/relationships" id="261" r:id="R76ac76ebb428405f"/>
    <p:sldId xmlns:r="http://schemas.openxmlformats.org/officeDocument/2006/relationships" id="262" r:id="R9c4dceb44da447d6"/>
    <p:sldId xmlns:r="http://schemas.openxmlformats.org/officeDocument/2006/relationships" id="263" r:id="R33edb49d28a84df1"/>
    <p:sldId xmlns:r="http://schemas.openxmlformats.org/officeDocument/2006/relationships" id="264" r:id="Rd713f3ea7db845b5"/>
    <p:sldId xmlns:r="http://schemas.openxmlformats.org/officeDocument/2006/relationships" id="265" r:id="Rdfdfc580329c47d7"/>
    <p:sldId xmlns:r="http://schemas.openxmlformats.org/officeDocument/2006/relationships" id="266" r:id="R41c3ceef7a354732"/>
    <p:sldId xmlns:r="http://schemas.openxmlformats.org/officeDocument/2006/relationships" id="267" r:id="R2c093a46dd0642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d4cd94ea1d4df0" /><Relationship Type="http://schemas.openxmlformats.org/officeDocument/2006/relationships/slideMaster" Target="/ppt/slideMasters/slideMaster1.xml" Id="Rbe9704fa846c4608" /><Relationship Type="http://schemas.openxmlformats.org/officeDocument/2006/relationships/notesMaster" Target="/ppt/notesMasters/notesMaster1.xml" Id="R7633a78d17c8425f" /><Relationship Type="http://schemas.openxmlformats.org/officeDocument/2006/relationships/presProps" Target="/ppt/presProps.xml" Id="R03084cb97e794ce6" /><Relationship Type="http://schemas.openxmlformats.org/officeDocument/2006/relationships/tableStyles" Target="/ppt/tableStyles.xml" Id="Rd46ba5cb655c4f74" /><Relationship Type="http://schemas.openxmlformats.org/officeDocument/2006/relationships/slide" Target="/ppt/slides/slide1.xml" Id="R01ab1e897f844100" /><Relationship Type="http://schemas.openxmlformats.org/officeDocument/2006/relationships/slide" Target="/ppt/slides/slide2.xml" Id="Rb93fe400a7fe4fbd" /><Relationship Type="http://schemas.openxmlformats.org/officeDocument/2006/relationships/slide" Target="/ppt/slides/slide3.xml" Id="R6b7f1173098f48a0" /><Relationship Type="http://schemas.openxmlformats.org/officeDocument/2006/relationships/slide" Target="/ppt/slides/slide4.xml" Id="R830f64c1a6a945f1" /><Relationship Type="http://schemas.openxmlformats.org/officeDocument/2006/relationships/slide" Target="/ppt/slides/slide5.xml" Id="Rc932a77275434230" /><Relationship Type="http://schemas.openxmlformats.org/officeDocument/2006/relationships/slide" Target="/ppt/slides/slide6.xml" Id="R76ac76ebb428405f" /><Relationship Type="http://schemas.openxmlformats.org/officeDocument/2006/relationships/slide" Target="/ppt/slides/slide7.xml" Id="R9c4dceb44da447d6" /><Relationship Type="http://schemas.openxmlformats.org/officeDocument/2006/relationships/slide" Target="/ppt/slides/slide8.xml" Id="R33edb49d28a84df1" /><Relationship Type="http://schemas.openxmlformats.org/officeDocument/2006/relationships/slide" Target="/ppt/slides/slide9.xml" Id="Rd713f3ea7db845b5" /><Relationship Type="http://schemas.openxmlformats.org/officeDocument/2006/relationships/slide" Target="/ppt/slides/slide10.xml" Id="Rdfdfc580329c47d7" /><Relationship Type="http://schemas.openxmlformats.org/officeDocument/2006/relationships/slide" Target="/ppt/slides/slide11.xml" Id="R41c3ceef7a354732" /><Relationship Type="http://schemas.openxmlformats.org/officeDocument/2006/relationships/slide" Target="/ppt/slides/slide12.xml" Id="R2c093a46dd06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5206825828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dd69728394f4a" /><Relationship Type="http://schemas.openxmlformats.org/officeDocument/2006/relationships/notesMaster" Target="/ppt/notesMasters/notesMaster1.xml" Id="R1b00c662f779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d68f2adbc74d2b" /><Relationship Type="http://schemas.openxmlformats.org/officeDocument/2006/relationships/notesMaster" Target="/ppt/notesMasters/notesMaster1.xml" Id="R0f64ec5a0ca54b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3122e018a543f4" /><Relationship Type="http://schemas.openxmlformats.org/officeDocument/2006/relationships/notesMaster" Target="/ppt/notesMasters/notesMaster1.xml" Id="R79f183afeb78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f1293e99254f26" /><Relationship Type="http://schemas.openxmlformats.org/officeDocument/2006/relationships/notesMaster" Target="/ppt/notesMasters/notesMaster1.xml" Id="Rf5bb5255b6a5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ed1a5a88c24a68" /><Relationship Type="http://schemas.openxmlformats.org/officeDocument/2006/relationships/notesMaster" Target="/ppt/notesMasters/notesMaster1.xml" Id="R3e07aa5a97cf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1d34ca0d21437e" /><Relationship Type="http://schemas.openxmlformats.org/officeDocument/2006/relationships/notesMaster" Target="/ppt/notesMasters/notesMaster1.xml" Id="R247736e4a655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e225c08bde49a0" /><Relationship Type="http://schemas.openxmlformats.org/officeDocument/2006/relationships/notesMaster" Target="/ppt/notesMasters/notesMaster1.xml" Id="R8bffa45f44e4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edf21f604244fe" /><Relationship Type="http://schemas.openxmlformats.org/officeDocument/2006/relationships/notesMaster" Target="/ppt/notesMasters/notesMaster1.xml" Id="Reb4489940f25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a2b93157004409" /><Relationship Type="http://schemas.openxmlformats.org/officeDocument/2006/relationships/notesMaster" Target="/ppt/notesMasters/notesMaster1.xml" Id="Rc662dbea019744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6c968a570042c3" /><Relationship Type="http://schemas.openxmlformats.org/officeDocument/2006/relationships/notesMaster" Target="/ppt/notesMasters/notesMaster1.xml" Id="Rcc616b75928341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2d1ffe73614663" /><Relationship Type="http://schemas.openxmlformats.org/officeDocument/2006/relationships/notesMaster" Target="/ppt/notesMasters/notesMaster1.xml" Id="R2adedb5a46da49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4fa52e0aa64280" /><Relationship Type="http://schemas.openxmlformats.org/officeDocument/2006/relationships/notesMaster" Target="/ppt/notesMasters/notesMaster1.xml" Id="Rda6d7fdc8609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來源：README.md；docs/TEAM_OWNERSHIP.md。此為進度簡報，尚待全組最終簽收。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來源：簡報文件/SLIDE_CONTENT.md（PR #19 草稿）；README.md；專題進度/專案工作清單_2026-10-17.md。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來源：deploy/README.md；MuscleCore分析資料/website/cloud_runtime.py；docs/SAM_RELEASE_2026-10-18.md。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來源：docs/SAM_SCHEMA_AUDIT_2026-10-17.md；docs/D4_IMPORT_ACCEPTANCE_2026-10-18.md。數值有各自的讀回日期。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來源：簡報文件/screenshots/S02-catalog-evidence.md；docs/SAM_LIVE_CATALOG_AUDIT_2026-10-17.md。畫面擷取於 10/17，非目前 Cloud Run 管理端 revision 讀回。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來源：簡報文件/screenshots/S03-product-evidence.md。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來源：docs/SAM_PR21_LIVE_ACCEPTANCE_2026-10-17.md；docs/SAM_RELEASE_2026-10-18.md。圖片僅證明匿名登入表單可見。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來源：docs/D4_IMPORT_ACCEPTANCE_2026-10-18.md。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來源：專題進度/專案工作清單_2026-10-17.md；docs/JEFF_ADMIN_UI_DESIGN.md。不得把規格當作功能完成。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來源：docs/SAM_RELEASE_2026-10-18.md；docs/SAM_SOURCE_RECONCILIATION_2026-10-18.md。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來源：docs/log/REN_NAMING_2026-10-18.md；簡報文件/screenshots/S02-catalog-evidence.md；GitHub Actions PR #52/#53、main run #39053486928。窄視窗不等同手機實機。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來源：專題進度/專案工作清單_2026-10-17.md。此頁是 10/18 進度，不代替其他成員簽認。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5570e2fdf44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0f39d0f4b42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bc0eb3fc54d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9e7ad0c5847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fa66c80144c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09c5c6059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121D32-5399-4286-A356-8662A9B11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54E764-1676-45D6-BE6B-B8F0CC8AAD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554A88-2D8E-42A0-8680-BCEC98B44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153755-3C64-4BCD-93B0-4A566A9EB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73FBEF-5DCA-4259-814A-994A69E8F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F5735B-1B1A-4992-AD76-90C7511E2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3E6129-5109-4AEE-B373-60C012B44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88308E-995B-4369-AB48-DFCBB8C916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7EEFD9-A1B9-40F5-8B50-258B8895F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7A1AD-6D62-4B01-9B46-C125F1EF0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7bec562524d49" /><Relationship Type="http://schemas.openxmlformats.org/officeDocument/2006/relationships/slideLayout" Target="/ppt/slideLayouts/slideLayout1.xml" Id="R2fe87400d5c3485f" /><Relationship Type="http://schemas.openxmlformats.org/officeDocument/2006/relationships/slideLayout" Target="/ppt/slideLayouts/slideLayout2.xml" Id="Rc278a4b331024672" /><Relationship Type="http://schemas.openxmlformats.org/officeDocument/2006/relationships/slideLayout" Target="/ppt/slideLayouts/slideLayout3.xml" Id="R9b6dd8f369894540" /><Relationship Type="http://schemas.openxmlformats.org/officeDocument/2006/relationships/slideLayout" Target="/ppt/slideLayouts/slideLayout4.xml" Id="Re0967652120f446d" /><Relationship Type="http://schemas.openxmlformats.org/officeDocument/2006/relationships/slideLayout" Target="/ppt/slideLayouts/slideLayout5.xml" Id="R60e1952054e1447b" /><Relationship Type="http://schemas.openxmlformats.org/officeDocument/2006/relationships/slideLayout" Target="/ppt/slideLayouts/slideLayout6.xml" Id="R13b220e2fef3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87400d5c3485f"/>
    <p:sldLayoutId xmlns:r="http://schemas.openxmlformats.org/officeDocument/2006/relationships" id="2147483650" r:id="Rc278a4b331024672"/>
    <p:sldLayoutId xmlns:r="http://schemas.openxmlformats.org/officeDocument/2006/relationships" id="2147483651" r:id="R9b6dd8f369894540"/>
    <p:sldLayoutId xmlns:r="http://schemas.openxmlformats.org/officeDocument/2006/relationships" id="2147483652" r:id="Re0967652120f446d"/>
    <p:sldLayoutId xmlns:r="http://schemas.openxmlformats.org/officeDocument/2006/relationships" id="2147483653" r:id="R60e1952054e1447b"/>
    <p:sldLayoutId xmlns:r="http://schemas.openxmlformats.org/officeDocument/2006/relationships" id="2147483654" r:id="R13b220e2fef3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bd62d75be4829" /><Relationship Type="http://schemas.openxmlformats.org/officeDocument/2006/relationships/notesSlide" Target="/ppt/notesSlides/notesSlide1.xml" Id="Rc5c5d617f9424a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751ec09b944f2" /><Relationship Type="http://schemas.openxmlformats.org/officeDocument/2006/relationships/notesSlide" Target="/ppt/notesSlides/notesSlide2.xml" Id="R653ef8ae70a0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93bc734754f54" /><Relationship Type="http://schemas.openxmlformats.org/officeDocument/2006/relationships/notesSlide" Target="/ppt/notesSlides/notesSlide3.xml" Id="R28507d4ffb37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cb604d05f4073" /><Relationship Type="http://schemas.openxmlformats.org/officeDocument/2006/relationships/notesSlide" Target="/ppt/notesSlides/notesSlide4.xml" Id="R1fc9994332fc4d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8abb82e384a77" /><Relationship Type="http://schemas.openxmlformats.org/officeDocument/2006/relationships/image" Target="/ppt/media/image.jpeg" Id="Rea2b29c6420f434c" /><Relationship Type="http://schemas.openxmlformats.org/officeDocument/2006/relationships/notesSlide" Target="/ppt/notesSlides/notesSlide5.xml" Id="Rbe7fc8ce2668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9174c7374178" /><Relationship Type="http://schemas.openxmlformats.org/officeDocument/2006/relationships/image" Target="/ppt/media/image.png" Id="Ra515af1aaf0a4219" /><Relationship Type="http://schemas.openxmlformats.org/officeDocument/2006/relationships/notesSlide" Target="/ppt/notesSlides/notesSlide6.xml" Id="Rba8c6837b61148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ddef4fcf64024" /><Relationship Type="http://schemas.openxmlformats.org/officeDocument/2006/relationships/image" Target="/ppt/media/image2.jpeg" Id="Ra46b50817c0b4eeb" /><Relationship Type="http://schemas.openxmlformats.org/officeDocument/2006/relationships/notesSlide" Target="/ppt/notesSlides/notesSlide7.xml" Id="Rf093b86895cb4e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f8d7894a540d6" /><Relationship Type="http://schemas.openxmlformats.org/officeDocument/2006/relationships/notesSlide" Target="/ppt/notesSlides/notesSlide8.xml" Id="Ra037087d54734e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67097b32248fc" /><Relationship Type="http://schemas.openxmlformats.org/officeDocument/2006/relationships/notesSlide" Target="/ppt/notesSlides/notesSlide9.xml" Id="Ra42ea9c41fc0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3e98fda5443ed" /><Relationship Type="http://schemas.openxmlformats.org/officeDocument/2006/relationships/notesSlide" Target="/ppt/notesSlides/notesSlide10.xml" Id="R7e2b3a3457db45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e926639ad4bfc" /><Relationship Type="http://schemas.openxmlformats.org/officeDocument/2006/relationships/image" Target="/ppt/media/image3.jpeg" Id="Ree10376b2259463c" /><Relationship Type="http://schemas.openxmlformats.org/officeDocument/2006/relationships/notesSlide" Target="/ppt/notesSlides/notesSlide11.xml" Id="R8b6d67a51c5646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6c82b0c2648ba" /><Relationship Type="http://schemas.openxmlformats.org/officeDocument/2006/relationships/notesSlide" Target="/ppt/notesSlides/notesSlide12.xml" Id="R363eb402656c45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96F2F-F3AD-42E0-B071-1BEB09E1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  <a:lvl1pPr>
              <a:defRPr sz="4200" b="1">
                <a:solidFill>
                  <a:srgbClr val="FFFFFF"/>
                </a:solidFill>
              </a:defRPr>
            </a:lvl1pPr>
            <a:lvl2pPr>
              <a:defRPr sz="4200" b="1">
                <a:solidFill>
                  <a:srgbClr val="FFFFFF"/>
                </a:solidFill>
              </a:defRPr>
            </a:lvl2pPr>
            <a:lvl3pPr>
              <a:defRPr sz="4200" b="1">
                <a:solidFill>
                  <a:srgbClr val="FFFFFF"/>
                </a:solidFill>
              </a:defRPr>
            </a:lvl3pPr>
            <a:lvl4pPr>
              <a:defRPr sz="4200" b="1">
                <a:solidFill>
                  <a:srgbClr val="FFFFFF"/>
                </a:solidFill>
              </a:defRPr>
            </a:lvl4pPr>
            <a:lvl5pPr>
              <a:defRPr sz="4200" b="1">
                <a:solidFill>
                  <a:srgbClr val="FFFFFF"/>
                </a:solidFill>
              </a:defRPr>
            </a:lvl5pPr>
            <a:lvl6pPr>
              <a:defRPr sz="4200" b="1">
                <a:solidFill>
                  <a:srgbClr val="FFFFFF"/>
                </a:solidFill>
              </a:defRPr>
            </a:lvl6pPr>
            <a:lvl7pPr>
              <a:defRPr sz="4200" b="1">
                <a:solidFill>
                  <a:srgbClr val="FFFFFF"/>
                </a:solidFill>
              </a:defRPr>
            </a:lvl7pPr>
            <a:lvl8pPr>
              <a:defRPr sz="4200" b="1">
                <a:solidFill>
                  <a:srgbClr val="FFFFFF"/>
                </a:solidFill>
              </a:defRPr>
            </a:lvl8pPr>
            <a:lvl9pPr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VibeCart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26C55-B1FB-4C2D-88A7-2D5B44FD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FDBD3"/>
                </a:solidFill>
              </a:defRPr>
            </a:defPPr>
            <a:lvl1pPr>
              <a:defRPr sz="2550" b="1">
                <a:solidFill>
                  <a:srgbClr val="7FDBD3"/>
                </a:solidFill>
              </a:defRPr>
            </a:lvl1pPr>
            <a:lvl2pPr>
              <a:defRPr sz="2550" b="1">
                <a:solidFill>
                  <a:srgbClr val="7FDBD3"/>
                </a:solidFill>
              </a:defRPr>
            </a:lvl2pPr>
            <a:lvl3pPr>
              <a:defRPr sz="2550" b="1">
                <a:solidFill>
                  <a:srgbClr val="7FDBD3"/>
                </a:solidFill>
              </a:defRPr>
            </a:lvl3pPr>
            <a:lvl4pPr>
              <a:defRPr sz="2550" b="1">
                <a:solidFill>
                  <a:srgbClr val="7FDBD3"/>
                </a:solidFill>
              </a:defRPr>
            </a:lvl4pPr>
            <a:lvl5pPr>
              <a:defRPr sz="2550" b="1">
                <a:solidFill>
                  <a:srgbClr val="7FDBD3"/>
                </a:solidFill>
              </a:defRPr>
            </a:lvl5pPr>
            <a:lvl6pPr>
              <a:defRPr sz="2550" b="1">
                <a:solidFill>
                  <a:srgbClr val="7FDBD3"/>
                </a:solidFill>
              </a:defRPr>
            </a:lvl6pPr>
            <a:lvl7pPr>
              <a:defRPr sz="2550" b="1">
                <a:solidFill>
                  <a:srgbClr val="7FDBD3"/>
                </a:solidFill>
              </a:defRPr>
            </a:lvl7pPr>
            <a:lvl8pPr>
              <a:defRPr sz="2550" b="1">
                <a:solidFill>
                  <a:srgbClr val="7FDBD3"/>
                </a:solidFill>
              </a:defRPr>
            </a:lvl8pPr>
            <a:lvl9pPr>
              <a:defRPr sz="25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FDBD3"/>
                </a:solidFill>
              </a:defRPr>
            </a:pPr>
            <a:r>
              <a:rPr sz="2550" b="1">
                <a:solidFill>
                  <a:srgbClr val="7FDBD3"/>
                </a:solidFill>
              </a:rPr>
              <a:t>智慧購物與營運分析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E1AE3-C013-4C4D-B2C1-43AC8EB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7EEF5"/>
                </a:solidFill>
              </a:defRPr>
            </a:defPPr>
            <a:lvl1pPr>
              <a:defRPr sz="1800" b="0">
                <a:solidFill>
                  <a:srgbClr val="E7EEF5"/>
                </a:solidFill>
              </a:defRPr>
            </a:lvl1pPr>
            <a:lvl2pPr>
              <a:defRPr sz="1800" b="0">
                <a:solidFill>
                  <a:srgbClr val="E7EEF5"/>
                </a:solidFill>
              </a:defRPr>
            </a:lvl2pPr>
            <a:lvl3pPr>
              <a:defRPr sz="1800" b="0">
                <a:solidFill>
                  <a:srgbClr val="E7EEF5"/>
                </a:solidFill>
              </a:defRPr>
            </a:lvl3pPr>
            <a:lvl4pPr>
              <a:defRPr sz="1800" b="0">
                <a:solidFill>
                  <a:srgbClr val="E7EEF5"/>
                </a:solidFill>
              </a:defRPr>
            </a:lvl4pPr>
            <a:lvl5pPr>
              <a:defRPr sz="1800" b="0">
                <a:solidFill>
                  <a:srgbClr val="E7EEF5"/>
                </a:solidFill>
              </a:defRPr>
            </a:lvl5pPr>
            <a:lvl6pPr>
              <a:defRPr sz="1800" b="0">
                <a:solidFill>
                  <a:srgbClr val="E7EEF5"/>
                </a:solidFill>
              </a:defRPr>
            </a:lvl6pPr>
            <a:lvl7pPr>
              <a:defRPr sz="1800" b="0">
                <a:solidFill>
                  <a:srgbClr val="E7EEF5"/>
                </a:solidFill>
              </a:defRPr>
            </a:lvl7pPr>
            <a:lvl8pPr>
              <a:defRPr sz="1800" b="0">
                <a:solidFill>
                  <a:srgbClr val="E7EEF5"/>
                </a:solidFill>
              </a:defRPr>
            </a:lvl8pPr>
            <a:lvl9pPr>
              <a:defRPr sz="180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7EEF5"/>
                </a:solidFill>
              </a:defRPr>
            </a:pPr>
            <a:r>
              <a:rPr sz="1800" b="0">
                <a:solidFill>
                  <a:srgbClr val="E7EEF5"/>
                </a:solidFill>
              </a:rPr>
              <a:t>2026 年 10 月 18 日進度簡報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CA778-30AC-45D9-BEA3-9119402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7EEF5"/>
                </a:solidFill>
              </a:defRPr>
            </a:defPPr>
            <a:lvl1pPr>
              <a:defRPr sz="1800" b="0">
                <a:solidFill>
                  <a:srgbClr val="E7EEF5"/>
                </a:solidFill>
              </a:defRPr>
            </a:lvl1pPr>
            <a:lvl2pPr>
              <a:defRPr sz="1800" b="0">
                <a:solidFill>
                  <a:srgbClr val="E7EEF5"/>
                </a:solidFill>
              </a:defRPr>
            </a:lvl2pPr>
            <a:lvl3pPr>
              <a:defRPr sz="1800" b="0">
                <a:solidFill>
                  <a:srgbClr val="E7EEF5"/>
                </a:solidFill>
              </a:defRPr>
            </a:lvl3pPr>
            <a:lvl4pPr>
              <a:defRPr sz="1800" b="0">
                <a:solidFill>
                  <a:srgbClr val="E7EEF5"/>
                </a:solidFill>
              </a:defRPr>
            </a:lvl4pPr>
            <a:lvl5pPr>
              <a:defRPr sz="1800" b="0">
                <a:solidFill>
                  <a:srgbClr val="E7EEF5"/>
                </a:solidFill>
              </a:defRPr>
            </a:lvl5pPr>
            <a:lvl6pPr>
              <a:defRPr sz="1800" b="0">
                <a:solidFill>
                  <a:srgbClr val="E7EEF5"/>
                </a:solidFill>
              </a:defRPr>
            </a:lvl6pPr>
            <a:lvl7pPr>
              <a:defRPr sz="1800" b="0">
                <a:solidFill>
                  <a:srgbClr val="E7EEF5"/>
                </a:solidFill>
              </a:defRPr>
            </a:lvl7pPr>
            <a:lvl8pPr>
              <a:defRPr sz="1800" b="0">
                <a:solidFill>
                  <a:srgbClr val="E7EEF5"/>
                </a:solidFill>
              </a:defRPr>
            </a:lvl8pPr>
            <a:lvl9pPr>
              <a:defRPr sz="180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7EEF5"/>
                </a:solidFill>
              </a:defRPr>
            </a:pPr>
            <a:r>
              <a:rPr sz="1800" b="0">
                <a:solidFill>
                  <a:srgbClr val="E7EEF5"/>
                </a:solidFill>
              </a:rPr>
              <a:t>JEFF｜AI／後台　REN｜會員／購物　SAM｜資料／測試／整合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4F90-53C8-43D6-9E03-B4074AD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01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957960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D3E19-F075-43D2-AC31-6511E3D3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專案要解決的事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B2D5D-8763-4DA1-8475-DA42B1A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會員可依分類、搜尋與 SKU 規格找到商品。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A9503-6FCB-4FC5-A651-12D103B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購物車與示範結帳保留庫存、重送及錯誤處理。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30930-E042-45FF-A726-39AA58D1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管理端需以同一批訂單資料核對營運數字。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FE008-03B2-495F-B7DA-AD93A0A8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推薦與 AI 洞察必須標明模型啟用狀態與資料範圍。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4C9C9-A6F0-48D8-8551-904E9DB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02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76139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193E-FA24-401B-B39D-F4E81BA1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目前系統架構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D7FC1-2D58-42F9-A49D-7212B4B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Firebase Hosting 導向 Cloud Run 的 Flask／Jinja2 網站。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A8A5C-17A6-4DA9-9750-6FE7C4C2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網站連接 MongoDB Atlas v4 商品、SKU、訂單與事件。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FEB05-3FD5-46F2-B6B1-D3244939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會員／購物與後台使用權限、CSRF 及服務層契約。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4D4F7-145E-41C8-9589-898D6776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AI 模組有獨立旗標；未驗證的真模型不列為上線成果。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0BF6D-A94A-43B7-936D-8199956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03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44075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81F3D-5294-4197-A999-126283E0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資料基線與 D4 匯入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C89BB-3774-4171-9CA6-57F9EFE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商品 336、active SKU 336。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59CC1-F873-4A3A-AF25-44701EDE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D1～D3 原批次訂單 3,000、明細 8,969，另有 2 筆示範訂單。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43B46-0E48-4E2B-B6E6-C71C8B3C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D4 四種行為事件各 310，共 1,240 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7118-4126-45D2-91BC-53D7906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verify 缺漏 0；同批次重送新增 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A9820-A8BC-434D-A2B7-D92D058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04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17376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F89E-F827-4CE5-B2B2-990215CA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商品清單與搜尋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87911-CFC8-4167-AD9E-823F795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公開清單顯示 336 件、14 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FE3CE-E007-4301-8E98-B1A8BBB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已留桌面搜尋與分類畫面；商品／SKU 價格庫存曾與 Atlas 唯讀對帳，所測差異 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5AA98-80D4-4973-90B4-540456A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正式具名畫面簽收與手機實機仍待補。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8445C-8762-440B-A8C6-77669FCF5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b29c6420f434c"/>
          <a:stretch xmlns:a="http://schemas.openxmlformats.org/drawingml/2006/main"/>
        </p:blipFill>
        <p:spPr>
          <a:xfrm xmlns:a="http://schemas.openxmlformats.org/drawingml/2006/main">
            <a:off x="5857875" y="1991666"/>
            <a:ext cx="5572125" cy="31318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B69E6-3892-47CB-A7CB-5D7E5719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05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895465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C2DED-B7FC-41D4-8743-301A9AF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單品與 SKU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014C2-EF1C-4F22-B41A-C5DD3F2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單品畫面已留瀏覽器原始截圖。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1AC20-7E7E-4B73-B8B0-5A03776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SKU 價格與庫存由資料層核對。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99B96-1C29-41B4-B40A-503301A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S03 尚需對交付版 revision、手機畫面與具名簽認。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0F861-1EB5-485F-B2F0-13E200FB7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5af1aaf0a4219"/>
          <a:stretch xmlns:a="http://schemas.openxmlformats.org/drawingml/2006/main"/>
        </p:blipFill>
        <p:spPr>
          <a:xfrm xmlns:a="http://schemas.openxmlformats.org/drawingml/2006/main">
            <a:off x="5857875" y="2064149"/>
            <a:ext cx="5572125" cy="29868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C716-07FE-4848-B87E-6713D07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06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2114092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27419-AC7F-4ED2-A12D-42DB2B2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會員與結帳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CEEB6-08AF-4442-B9FA-2B067B7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登入、雙裝置、撤權、購物車及示範結帳有本機與較早隔離服務證據。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9AA8E-72EF-4ABF-9B40-F3CA73D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正式修訂的登入成功、遠端交易與管理員流程尚未同版重驗。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A3C03-DE14-4E0F-8C67-58067DC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示範結帳不代表真付款或出貨。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CC606-4F33-4328-B899-FF9CB66CA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50817c0b4eeb"/>
          <a:stretch xmlns:a="http://schemas.openxmlformats.org/drawingml/2006/main"/>
        </p:blipFill>
        <p:spPr>
          <a:xfrm xmlns:a="http://schemas.openxmlformats.org/drawingml/2006/main">
            <a:off x="5857875" y="1991666"/>
            <a:ext cx="5572125" cy="31318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F7919-1408-426C-83CC-F1015A6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07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226040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AEEB7-AEF9-4EC4-BAFA-C5DDBF5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合成事件的隔離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06FA-4095-4F14-9DB7-ECDFDBF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D4 已完成 preflight、dry-run、apply、verify 與重送。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215F0-F2C5-438C-BF18-334C0608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1,240 筆均標示 synthetic 與 exclude_from_attribution。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D8D3-D9E8-4955-B41D-C5CE020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consumer 同映像遠端對照已留證；新增 consumer 或換映像後需重新驗證。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A9ED-C7E1-4E22-889C-8374ED50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08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106939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CDCE2-3A40-4ADA-A297-ACC8362B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與後台的待驗範圍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98DD-276A-49D4-B5E7-3A1710A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JEFF 的真 BGE／Claude、規則退回與自由提問，正式線上尚未驗收。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B6C39-C6A3-455D-97B7-7C72573D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D5 商品／SKU／訂單／會員寫入仍以規格為主。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C2030-5C96-43D4-A784-3E17F20E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180 天稽核、冪等收據與批量 request_id 尚需服務語義及 migration 驗證。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CC049-FDAA-4F24-BB05-F53EB1A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09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65949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27B10-4553-465C-B899-85F5A5C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部署與來源版本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9E4A-05C7-41FA-9EF8-29CF1CC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已記錄正式修訂 vibecart-web-00013-ds5，當時承接 100% 流量。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6522-479C-43E9-A939-90432D9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Firebase Hosting 首頁、live、ready 本輪即時讀回 200。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3AC4-60C7-4237-A779-4883BF9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目前 main 與已部署來源的 47 個白名單 Git blob 完全相同。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0E543-5231-477B-B1EF-94F8612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較新 main SHA 並未因此重新部署；控制平面需再讀回。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84F5-E0B2-456F-BF2B-0CAAC51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10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03927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05B8E-ED86-4F53-9C21-7654F0E1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已驗證與仍需驗證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E404C-9F21-491E-8863-08086C7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本機隔離 MongoDB 網站測試：186 passed、0 skipped。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78ED-C1F3-4DE0-9CDF-A257D27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PR #52、#53 與合併後 main 的 GitHub CI 均成功。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7417-9F67-437B-80C2-31AC650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窄視窗 S02 已留畫面，手機實機、鍵盤／錯誤流程與同版具名簽收仍缺。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EADD7-4D69-4CB9-BCCA-B4B812806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0376b2259463c"/>
          <a:stretch xmlns:a="http://schemas.openxmlformats.org/drawingml/2006/main"/>
        </p:blipFill>
        <p:spPr>
          <a:xfrm xmlns:a="http://schemas.openxmlformats.org/drawingml/2006/main">
            <a:off x="7765781" y="1581150"/>
            <a:ext cx="1756313" cy="3952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590F-D2CF-4953-840A-38A5323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11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74822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20DD9-8DA2-46C8-9BE0-8F92245E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交付前尚待完成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D9967-9DB5-49CF-9BBA-C94BC43F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defRPr sz="1950" b="1">
                <a:solidFill>
                  <a:srgbClr val="7FDBD3"/>
                </a:solidFill>
              </a:defRPr>
            </a:lvl1pPr>
            <a:lvl2pPr>
              <a:defRPr sz="1950" b="1">
                <a:solidFill>
                  <a:srgbClr val="7FDBD3"/>
                </a:solidFill>
              </a:defRPr>
            </a:lvl2pPr>
            <a:lvl3pPr>
              <a:defRPr sz="1950" b="1">
                <a:solidFill>
                  <a:srgbClr val="7FDBD3"/>
                </a:solidFill>
              </a:defRPr>
            </a:lvl3pPr>
            <a:lvl4pPr>
              <a:defRPr sz="1950" b="1">
                <a:solidFill>
                  <a:srgbClr val="7FDBD3"/>
                </a:solidFill>
              </a:defRPr>
            </a:lvl4pPr>
            <a:lvl5pPr>
              <a:defRPr sz="1950" b="1">
                <a:solidFill>
                  <a:srgbClr val="7FDBD3"/>
                </a:solidFill>
              </a:defRPr>
            </a:lvl5pPr>
            <a:lvl6pPr>
              <a:defRPr sz="1950" b="1">
                <a:solidFill>
                  <a:srgbClr val="7FDBD3"/>
                </a:solidFill>
              </a:defRPr>
            </a:lvl6pPr>
            <a:lvl7pPr>
              <a:defRPr sz="1950" b="1">
                <a:solidFill>
                  <a:srgbClr val="7FDBD3"/>
                </a:solidFill>
              </a:defRPr>
            </a:lvl7pPr>
            <a:lvl8pPr>
              <a:defRPr sz="1950" b="1">
                <a:solidFill>
                  <a:srgbClr val="7FDBD3"/>
                </a:solidFill>
              </a:defRPr>
            </a:lvl8pPr>
            <a:lvl9pPr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JEFF：真模型、D5 服務與 S06～S08 同版證據。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19F19-7669-4397-9402-2AF65E2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REN：會員／購物交回與 S03～S05 具名確認。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AC7BA-DAD0-4CA1-A45C-80229BB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SAM：正式修訂角色／交易、RWD、Network Access、加密備份復原、S01～S12 彙整。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8ABC6-1206-494A-BFAC-6D0CBC2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defRPr sz="1950" b="0">
                <a:solidFill>
                  <a:srgbClr val="E7EEF5"/>
                </a:solidFill>
              </a:defRPr>
            </a:lvl1pPr>
            <a:lvl2pPr>
              <a:defRPr sz="1950" b="0">
                <a:solidFill>
                  <a:srgbClr val="E7EEF5"/>
                </a:solidFill>
              </a:defRPr>
            </a:lvl2pPr>
            <a:lvl3pPr>
              <a:defRPr sz="1950" b="0">
                <a:solidFill>
                  <a:srgbClr val="E7EEF5"/>
                </a:solidFill>
              </a:defRPr>
            </a:lvl3pPr>
            <a:lvl4pPr>
              <a:defRPr sz="1950" b="0">
                <a:solidFill>
                  <a:srgbClr val="E7EEF5"/>
                </a:solidFill>
              </a:defRPr>
            </a:lvl4pPr>
            <a:lvl5pPr>
              <a:defRPr sz="1950" b="0">
                <a:solidFill>
                  <a:srgbClr val="E7EEF5"/>
                </a:solidFill>
              </a:defRPr>
            </a:lvl5pPr>
            <a:lvl6pPr>
              <a:defRPr sz="1950" b="0">
                <a:solidFill>
                  <a:srgbClr val="E7EEF5"/>
                </a:solidFill>
              </a:defRPr>
            </a:lvl6pPr>
            <a:lvl7pPr>
              <a:defRPr sz="1950" b="0">
                <a:solidFill>
                  <a:srgbClr val="E7EEF5"/>
                </a:solidFill>
              </a:defRPr>
            </a:lvl7pPr>
            <a:lvl8pPr>
              <a:defRPr sz="1950" b="0">
                <a:solidFill>
                  <a:srgbClr val="E7EEF5"/>
                </a:solidFill>
              </a:defRPr>
            </a:lvl8pPr>
            <a:lvl9pPr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最終排練、離線備援與全組簽收尚未完成。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7BD0-8AF1-4691-8588-76A1CA3F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defRPr sz="1125" b="0">
                <a:solidFill>
                  <a:srgbClr val="9FB0C1"/>
                </a:solidFill>
              </a:defRPr>
            </a:lvl1pPr>
            <a:lvl2pPr>
              <a:defRPr sz="1125" b="0">
                <a:solidFill>
                  <a:srgbClr val="9FB0C1"/>
                </a:solidFill>
              </a:defRPr>
            </a:lvl2pPr>
            <a:lvl3pPr>
              <a:defRPr sz="1125" b="0">
                <a:solidFill>
                  <a:srgbClr val="9FB0C1"/>
                </a:solidFill>
              </a:defRPr>
            </a:lvl3pPr>
            <a:lvl4pPr>
              <a:defRPr sz="1125" b="0">
                <a:solidFill>
                  <a:srgbClr val="9FB0C1"/>
                </a:solidFill>
              </a:defRPr>
            </a:lvl4pPr>
            <a:lvl5pPr>
              <a:defRPr sz="1125" b="0">
                <a:solidFill>
                  <a:srgbClr val="9FB0C1"/>
                </a:solidFill>
              </a:defRPr>
            </a:lvl5pPr>
            <a:lvl6pPr>
              <a:defRPr sz="1125" b="0">
                <a:solidFill>
                  <a:srgbClr val="9FB0C1"/>
                </a:solidFill>
              </a:defRPr>
            </a:lvl6pPr>
            <a:lvl7pPr>
              <a:defRPr sz="1125" b="0">
                <a:solidFill>
                  <a:srgbClr val="9FB0C1"/>
                </a:solidFill>
              </a:defRPr>
            </a:lvl7pPr>
            <a:lvl8pPr>
              <a:defRPr sz="1125" b="0">
                <a:solidFill>
                  <a:srgbClr val="9FB0C1"/>
                </a:solidFill>
              </a:defRPr>
            </a:lvl8pPr>
            <a:lvl9pPr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12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841007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2026-10-17T17:26:21.1300000Z</dcterms:created>
  <dcterms:modified xsi:type="dcterms:W3CDTF">2026-10-17T17:26:21.1300000Z</dcterms:modified>
</coreProperties>
</file>
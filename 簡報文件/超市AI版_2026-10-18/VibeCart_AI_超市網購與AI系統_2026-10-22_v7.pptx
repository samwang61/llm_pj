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開場約 30 秒。V7（2026-10-22）延續 V6 的 LOCAL AI／雲端 AI 分工，改為深色技術版型，並補入 10/22 正式站取證：JEFF J1 後台與 AI 狀態、角色拒絕、手機實機，以及 PR #171／#175 正式發布結果。封面插畫為 AI 生成概念圖，不是系統畫面。
來源：https://github.com/SamWang61/LLM_PJ/blob/main/README.md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45 秒。右圖已由 V6 的 10/18 零流量預覽，更新為 10/22 正式站首頁（JEFF J1-01，13:27）。
來源：https://github.com/SamWang61/LLM_PJ/blob/main/簡報文件/screenshots/personal-acceptance-20261019/JEFF/J1_admin_ai_record.md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70 秒。與 V6 相同架構，更新兩處：Atlas 為 10/22 唯讀稽核的 30 集合／96 索引／8 筆 migration；Cloud Run 為 2Gi、service／revision 上限 3（擴展上限，不是常駐三台）。AI 不直接持有任意資料庫寫入權限。
來源：https://github.com/SamWang61/LLM_PJ/blob/main/docs/CURRENT_CONTEXT.md
https://github.com/SamWang61/LLM_PJ/blob/main/docs/log/SAM_PR171_PRODUCTION_2026-10-22.md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55 秒。數字均為合成／示範資料，不是實際營業績效。D4 1,240 事件四類各 310，皆帶 synthetic 與 exclude_from_attribution。10/22 新增 Atlas 唯讀稽核結果。
來源：https://github.com/SamWang61/LLM_PJ/blob/main/docs/CURRENT_CONTEXT.md
https://github.com/SamWang61/LLM_PJ/blob/main/docs/inventory/SAM_ATLAS_READBACK_2026-10-22.json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55 秒。內容同 V6。
來源：https://github.com/SamWang61/LLM_PJ/blob/main/簡報文件/screenshots/S03-product-evidence.md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約 55 秒。V6 只有匿名登入入口圖；V7 補上 10/22 13:36 JEFF 以一般會員密碼登入 Cloud Run 正式服務、直接輸入 /admin/ 被拒的截圖。錯密碼、停用、舊 cookie 等負向案例為自動測試證據，未逐一拍圖。帳密不經 Claude、不入鏡。
來源：https://github.com/SamWang61/LLM_PJ/blob/main/簡報文件/screenshots/personal-acceptance-20261019/JEFF/J1_admin_ai_record.md
https://github.com/SamWang61/LLM_PJ/blob/main/簡報文件/screenshots/S01-S12_同版取證_2026-10-18.md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V7 補上 S05 購物車與示範訂單截圖（10/18 隔離環境：加 2、改 1、建立不收款示範單；Atlas 訂單／明細各 1、庫存 6→5、is_demo=true）。示範結帳不收款；本階段尚未串接真實金流。
來源：https://github.com/SamWang61/LLM_PJ/blob/main/簡報文件/screenshots/S01-S12_同版取證_2026-10-18.md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V6 只列 KPI 定義；V7 補上 10/22 13:26 正式後台實際讀值（未選日期＝最近 100 筆）。這些訂單屬示範／合成資料，不能當成營收。日期順序錯誤會顯示「請調整篩選條件」（J1-09）。
來源：https://github.com/SamWang61/LLM_PJ/blob/main/簡報文件/screenshots/personal-acceptance-20261019/JEFF/J1_admin_ai_record.md
https://github.com/SamWang61/LLM_PJ/blob/main/docs/AI_DASHBOARD.md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新增頁。J1-03 讀到權重 PURCHASE 4／ADD_TO_CART 3／SEARCH 2／PRODUCT_VIEW 1，頁面註明「是行為次數，不是推薦成效」。J2 以原始碼比對所有 behavior_events 讀取端：production 範圍排除 synthetic 與 exclude_from_attribution；personalization 範圍只排除 synthetic。
來源：https://github.com/SamWang61/LLM_PJ/blob/main/簡報文件/screenshots/personal-acceptance-20261019/JEFF/J2_consumer_review.md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V6 只寫目的；V7 補上正式實測。PR #171 後發現多執行緒同時載入三份 BGE 造成 504，PR #175 加初始化鎖後 09:00 三並行請求皆 200（約 86 秒），觀察區間無 5xx。冷啟動仍需 86～95 秒，向量持久化尚未完成。J1-04 時前台旗標未啟用，J1-12 首頁為規則推薦 6 項、破圈 0 項。
來源：https://github.com/SamWang61/LLM_PJ/blob/main/docs/log/SAM_PR171_PRODUCTION_2026-10-22.md
https://github.com/SamWang61/LLM_PJ/blob/main/MuscleCore分析資料/website/app/services/local_ai.py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V7 依 J1-05～J1-07 更新：Claude 已啟用（claude-sonnet-5），02:16 首次 7.8 秒、13:28 15.0 秒；送給模型的資料只有白名單 v1 的 13 個欄位。自由提問關閉，只有 4 個預設提問。已知限制：Claude 輸出仍偶見 change_pct／null 等英文欄位名，JEFF 後續改善。
來源：https://github.com/SamWang61/LLM_PJ/blob/main/簡報文件/screenshots/personal-acceptance-20261019/JEFF/J1_admin_ai_record.md
https://github.com/SamWang61/LLM_PJ/blob/main/MuscleCore分析資料/website/app/services/ai_workflows.py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比較各自任務的品質與耗時，不把不同任務分數當成模型優劣。實測數字取自 10/22 J1-05／J1-08 與 PR #175 正式發布紀錄。
來源：https://github.com/SamWang61/LLM_PJ/blob/main/docs/AI_DASHBOARD.md
https://github.com/SamWang61/LLM_PJ/blob/main/docs/log/SAM_PR171_PRODUCTION_2026-10-22.md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V6 為 186 passed（80513a9）與 390×844 窄視窗；V7 更新為 PR #175 的 407 passed／35 skipped、CI 成功、正式 revision vibecart-web-bge-lock-1022 100%，並以 JEFF iPhone 16 Pro Max 實機截圖取代窄視窗。觀察區間無 5xx 不代表永遠無錯誤或高可用保證。手機截圖 J1-11 第二張由對話貼上存檔，可能非原始解析度。
來源：https://github.com/SamWang61/LLM_PJ/blob/main/docs/log/SAM_PR171_PRODUCTION_2026-10-22.md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新增頁，整理安全與維運。Drive：980 個既有雲端檔案完成原 ID 加密與原明文版本移除；來源全量傳輸、最終對帳與 OAuth Production 確認仍待（PR #177）。Atlas 0.0.0.0/0 為 SAM 核准的學習協作例外，帳密／角色／TLS 檢查保留。
來源：https://github.com/SamWang61/LLM_PJ/blob/main/docs/log/SAM_DRIVE_ENCRYPTION_2026-10-22.md
https://github.com/SamWang61/LLM_PJ/blob/main/docs/CURRENT_CONTEXT.md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新增頁。3/14 為 CURRENT_CONTEXT 10/22 的正式清單統計，不是功能失敗比例；JEFF J1／J2 已完成，其餘依代理管理規則與本人重做表處理。下一階段項目來自 PR #171 正式紀錄的保留限制。
來源：https://github.com/SamWang61/LLM_PJ/blob/main/docs/CURRENT_CONTEXT.md
https://github.com/SamWang61/LLM_PJ/blob/main/docs/log/SAM_PR171_PRODUCTION_2026-10-22.md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V7 封底沿用團隊合照，加深色遮罩以符合深色版型。功能展示範圍不等於全部正式具名驗收完成。
來源：https://github.com/SamWang61/LLM_PJ/blob/main/docs/CURRENT_CONTEXT.md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mailto:jeff841117@gmail.com" TargetMode="External"/><Relationship Id="rId2" Type="http://schemas.openxmlformats.org/officeDocument/2006/relationships/hyperlink" Target="mailto:chen2000401@gmail.com" TargetMode="External"/><Relationship Id="rId3" Type="http://schemas.openxmlformats.org/officeDocument/2006/relationships/hyperlink" Target="mailto:cashsam@gmail.com" TargetMode="External"/><Relationship Id="rId4" Type="http://schemas.openxmlformats.org/officeDocument/2006/relationships/hyperlink" Target="mailto:fcaibialvin@gmail.com" TargetMode="External"/><Relationship Id="rId5" Type="http://schemas.openxmlformats.org/officeDocument/2006/relationships/image" Target="../media/image-1-1.jpg"/><Relationship Id="rId6" Type="http://schemas.openxmlformats.org/officeDocument/2006/relationships/image" Target="../media/image-1-2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mailto:jeff841117@gmail.com" TargetMode="External"/><Relationship Id="rId3" Type="http://schemas.openxmlformats.org/officeDocument/2006/relationships/hyperlink" Target="mailto:chen2000401@gmail.com" TargetMode="External"/><Relationship Id="rId4" Type="http://schemas.openxmlformats.org/officeDocument/2006/relationships/hyperlink" Target="mailto:cashsam@gmail.com" TargetMode="External"/><Relationship Id="rId5" Type="http://schemas.openxmlformats.org/officeDocument/2006/relationships/hyperlink" Target="mailto:fcaibialvin@gmail.com" TargetMode="External"/><Relationship Id="rId1" Type="http://schemas.openxmlformats.org/officeDocument/2006/relationships/image" Target="../media/image-16-1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2026.10.22  ·  V7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8686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VibeCart AI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智慧購物與營運分析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606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B7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超市網購 × LOCAL AI 推薦 × 雲端 AI 營運洞察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108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聯成資訊 LLM-2601 第六組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7033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106104063　黃健維 JEFF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995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jeff841117@gmail.com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32511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105910496　陳仁千 REN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46177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chen2000401@gmail.com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494690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106084164　汪文彥 SAM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5239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cashsam@gmail.com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566928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指導講師：簡志璁 Alvin　</a:t>
            </a:r>
            <a:pPr indent="0" marL="0">
              <a:buNone/>
            </a:pPr>
            <a:r>
              <a:rPr lang="en-US" sz="1400" u="sng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fcaibialvin@gmail.com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72784" y="512064"/>
            <a:ext cx="5422392" cy="3081528"/>
          </a:xfrm>
          <a:prstGeom prst="rect">
            <a:avLst/>
          </a:prstGeom>
          <a:solidFill>
            <a:srgbClr val="1A3945"/>
          </a:solidFill>
          <a:ln w="12700">
            <a:solidFill>
              <a:srgbClr val="3C6A78"/>
            </a:solidFill>
            <a:prstDash val="solid"/>
          </a:ln>
        </p:spPr>
      </p:sp>
      <p:pic>
        <p:nvPicPr>
          <p:cNvPr id="15" name="Image 0" descr="C:\Users\Windows\AppData\Local\Temp\claude\D--LLM-PJ\e00228e1-1589-4762-8c08-46f295611ffa\scratchpad\v7assets\cover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548640"/>
            <a:ext cx="5349240" cy="3008376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552944" y="3849624"/>
            <a:ext cx="4142232" cy="2359152"/>
          </a:xfrm>
          <a:prstGeom prst="rect">
            <a:avLst/>
          </a:prstGeom>
          <a:solidFill>
            <a:srgbClr val="1A3945"/>
          </a:solidFill>
          <a:ln w="12700">
            <a:solidFill>
              <a:srgbClr val="3C6A78"/>
            </a:solidFill>
            <a:prstDash val="solid"/>
          </a:ln>
        </p:spPr>
      </p:sp>
      <p:pic>
        <p:nvPicPr>
          <p:cNvPr id="17" name="Image 1" descr="C:\Users\Windows\AppData\Local\Temp\claude\D--LLM-PJ\e00228e1-1589-4762-8c08-46f295611ffa\scratchpad\v7assets\team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3886200"/>
            <a:ext cx="406908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57200"/>
            <a:ext cx="10972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超市網購的使用情境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同一份商品與訂單資料，服務消費者與營運人員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VibeCart AI　｜　黃健維　陳仁千　汪文彥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00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8745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消費者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237744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分類與關鍵字搜尋商品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確認規格、價格及庫存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購物車與示範訂單（不收款）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首頁「猜你喜歡」推薦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4069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營運人員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457200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核對期間營收、熱銷與低庫存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推薦監控與行為權重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 AI 產生本週主管摘要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38344" y="1883664"/>
            <a:ext cx="6565392" cy="3099816"/>
          </a:xfrm>
          <a:prstGeom prst="rect">
            <a:avLst/>
          </a:prstGeom>
          <a:solidFill>
            <a:srgbClr val="1A3945"/>
          </a:solidFill>
          <a:ln w="12700">
            <a:solidFill>
              <a:srgbClr val="3C6A78"/>
            </a:solidFill>
            <a:prstDash val="solid"/>
          </a:ln>
        </p:spPr>
      </p:sp>
      <p:pic>
        <p:nvPicPr>
          <p:cNvPr id="11" name="Image 0" descr="C:\Users\Windows\AppData\Local\Temp\claude\D--LLM-PJ\e00228e1-1589-4762-8c08-46f295611ffa\scratchpad\v7assets\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920240"/>
            <a:ext cx="6492240" cy="302666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074920" y="503834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7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10/22 正式站首頁（vibecart-llmai.web.app，JEFF J1-01）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57200"/>
            <a:ext cx="10972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系統架構與資料流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前後台共用 SKU 與資料服務，AI 依配置執行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VibeCart AI　｜　黃健維　陳仁千　汪文彥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00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2648" y="2852928"/>
            <a:ext cx="2249424" cy="1005840"/>
          </a:xfrm>
          <a:prstGeom prst="rect">
            <a:avLst/>
          </a:prstGeom>
          <a:solidFill>
            <a:srgbClr val="22434F"/>
          </a:solidFill>
          <a:ln w="12700">
            <a:solidFill>
              <a:srgbClr val="3C6A7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瀏覽器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VibeCart / VibeInsight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337560" y="2852928"/>
            <a:ext cx="2194560" cy="1005840"/>
          </a:xfrm>
          <a:prstGeom prst="rect">
            <a:avLst/>
          </a:prstGeom>
          <a:solidFill>
            <a:srgbClr val="22434F"/>
          </a:solidFill>
          <a:ln w="12700">
            <a:solidFill>
              <a:srgbClr val="3C6A7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Flask / Jinja2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路由與畫面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099048" y="1901952"/>
            <a:ext cx="2478024" cy="640080"/>
          </a:xfrm>
          <a:prstGeom prst="rect">
            <a:avLst/>
          </a:prstGeom>
          <a:solidFill>
            <a:srgbClr val="22434F"/>
          </a:solidFill>
          <a:ln w="12700">
            <a:solidFill>
              <a:srgbClr val="3C6A7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會員與角色 / CSRF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099048" y="2852928"/>
            <a:ext cx="2478024" cy="640080"/>
          </a:xfrm>
          <a:prstGeom prst="rect">
            <a:avLst/>
          </a:prstGeom>
          <a:solidFill>
            <a:srgbClr val="22434F"/>
          </a:solidFill>
          <a:ln w="12700">
            <a:solidFill>
              <a:srgbClr val="3C6A7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SKU / 購物車 / 訂單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099048" y="3813048"/>
            <a:ext cx="2478024" cy="640080"/>
          </a:xfrm>
          <a:prstGeom prst="rect">
            <a:avLst/>
          </a:prstGeom>
          <a:solidFill>
            <a:srgbClr val="22434F"/>
          </a:solidFill>
          <a:ln w="12700">
            <a:solidFill>
              <a:srgbClr val="3C6A7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營運統計 / 推薦服務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099048" y="4855464"/>
            <a:ext cx="2478024" cy="868680"/>
          </a:xfrm>
          <a:prstGeom prst="rect">
            <a:avLst/>
          </a:prstGeom>
          <a:solidFill>
            <a:srgbClr val="22434F"/>
          </a:solidFill>
          <a:ln w="12700">
            <a:solidFill>
              <a:srgbClr val="3C6A7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LangGraph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BGE-small-zh / Claude / 規則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208008" y="2852928"/>
            <a:ext cx="2377440" cy="1005840"/>
          </a:xfrm>
          <a:prstGeom prst="rect">
            <a:avLst/>
          </a:prstGeom>
          <a:solidFill>
            <a:srgbClr val="22434F"/>
          </a:solidFill>
          <a:ln w="12700">
            <a:solidFill>
              <a:srgbClr val="3C6A7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MongoDB Atlas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 集合 / 96 索引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862072" y="3355848"/>
            <a:ext cx="475488" cy="0"/>
          </a:xfrm>
          <a:prstGeom prst="line">
            <a:avLst/>
          </a:prstGeom>
          <a:noFill/>
          <a:ln w="19050">
            <a:solidFill>
              <a:srgbClr val="38C5C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532120" y="3355848"/>
            <a:ext cx="283464" cy="0"/>
          </a:xfrm>
          <a:prstGeom prst="line">
            <a:avLst/>
          </a:prstGeom>
          <a:noFill/>
          <a:ln w="19050">
            <a:solidFill>
              <a:srgbClr val="38C5C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15584" y="2221992"/>
            <a:ext cx="0" cy="1911096"/>
          </a:xfrm>
          <a:prstGeom prst="line">
            <a:avLst/>
          </a:prstGeom>
          <a:noFill/>
          <a:ln w="19050">
            <a:solidFill>
              <a:srgbClr val="38C5C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15584" y="2221992"/>
            <a:ext cx="283464" cy="0"/>
          </a:xfrm>
          <a:prstGeom prst="line">
            <a:avLst/>
          </a:prstGeom>
          <a:noFill/>
          <a:ln w="19050">
            <a:solidFill>
              <a:srgbClr val="38C5C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815584" y="3172968"/>
            <a:ext cx="283464" cy="0"/>
          </a:xfrm>
          <a:prstGeom prst="line">
            <a:avLst/>
          </a:prstGeom>
          <a:noFill/>
          <a:ln w="19050">
            <a:solidFill>
              <a:srgbClr val="38C5C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815584" y="4133088"/>
            <a:ext cx="283464" cy="0"/>
          </a:xfrm>
          <a:prstGeom prst="line">
            <a:avLst/>
          </a:prstGeom>
          <a:noFill/>
          <a:ln w="19050">
            <a:solidFill>
              <a:srgbClr val="38C5C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577072" y="3172968"/>
            <a:ext cx="310896" cy="0"/>
          </a:xfrm>
          <a:prstGeom prst="line">
            <a:avLst/>
          </a:prstGeom>
          <a:noFill/>
          <a:ln w="19050">
            <a:solidFill>
              <a:srgbClr val="38C5C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77072" y="4133088"/>
            <a:ext cx="310896" cy="0"/>
          </a:xfrm>
          <a:prstGeom prst="line">
            <a:avLst/>
          </a:prstGeom>
          <a:noFill/>
          <a:ln w="19050">
            <a:solidFill>
              <a:srgbClr val="38C5C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87968" y="3172968"/>
            <a:ext cx="0" cy="960120"/>
          </a:xfrm>
          <a:prstGeom prst="line">
            <a:avLst/>
          </a:prstGeom>
          <a:noFill/>
          <a:ln w="19050">
            <a:solidFill>
              <a:srgbClr val="38C5C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87968" y="3355848"/>
            <a:ext cx="320040" cy="0"/>
          </a:xfrm>
          <a:prstGeom prst="line">
            <a:avLst/>
          </a:prstGeom>
          <a:noFill/>
          <a:ln w="19050">
            <a:solidFill>
              <a:srgbClr val="38C5C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33488" y="4453128"/>
            <a:ext cx="0" cy="402336"/>
          </a:xfrm>
          <a:prstGeom prst="line">
            <a:avLst/>
          </a:prstGeom>
          <a:noFill/>
          <a:ln w="19050">
            <a:solidFill>
              <a:srgbClr val="38C5CD"/>
            </a:solidFill>
            <a:prstDash val="dash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621792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部署：Firebase Hosting　／　Cloud Run（2Gi・最多 3 執行個體）+ Gunicorn　／　Secret Manager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57200"/>
            <a:ext cx="10972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資料模型與測試資料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商品與 SKU 分離，訂單保留明細與示範標記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VibeCart AI　｜　黃健維　陳仁千　汪文彥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00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783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336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4597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有效商品與 SKU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410712" y="1783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3,000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410712" y="24597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D1～D3 合成訂單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199632" y="1783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8,969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199632" y="24597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對應訂單明細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988552" y="17830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1,240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8988552" y="245973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D4 合成行為事件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926080"/>
          <a:ext cx="1095451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2969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資料群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關聯與用途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4EEF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products / product_skus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4EEF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一項商品對應規格、價格與庫存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4EEF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users / carts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4EEF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會員登入與持久購物車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4EEF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orders / order_items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4EEF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訂單主檔、商品快照與金額（示範單 is_demo）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4EEF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behavior_events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4EEF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搜尋、瀏覽、加購及購買事件（synthetic 標記）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50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621792" y="54864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10/22 Atlas 唯讀稽核：30 集合／96 索引／8 筆 migration；12 組關聯 0 orphan；D1～D4 不重匯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57200"/>
            <a:ext cx="10972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商品搜尋與 SKU 一致性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商品畫面、價格與可購庫存使用同一份 SKU 資料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VibeCart AI　｜　黃健維　陳仁千　汪文彥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00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920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搜尋與分類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242316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關鍵字、分類與分頁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無結果時提供清楚提示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36118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商品與規格核對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41148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價格 NT$79・庫存 95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畫面與 Atlas 唯讀讀回一致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庫存為取證當時快照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09744" y="1883664"/>
            <a:ext cx="6793992" cy="3675888"/>
          </a:xfrm>
          <a:prstGeom prst="rect">
            <a:avLst/>
          </a:prstGeom>
          <a:solidFill>
            <a:srgbClr val="1A3945"/>
          </a:solidFill>
          <a:ln w="12700">
            <a:solidFill>
              <a:srgbClr val="3C6A78"/>
            </a:solidFill>
            <a:prstDash val="solid"/>
          </a:ln>
        </p:spPr>
      </p:sp>
      <p:pic>
        <p:nvPicPr>
          <p:cNvPr id="11" name="Image 0" descr="C:\Users\Windows\AppData\Local\Temp\claude\D--LLM-PJ\e00228e1-1589-4762-8c08-46f295611ffa\scratchpad\v7assets\produ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920240"/>
            <a:ext cx="6720840" cy="360273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846320" y="5614416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7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S03：10/17 商品實拍，數值為取證當時快照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57200"/>
            <a:ext cx="10972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會員登入與權限管理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每次請求檢查有效會員與管理員角色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VibeCart AI　｜　黃健維　陳仁千　汪文彥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00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" y="1837944"/>
            <a:ext cx="7022592" cy="3520440"/>
          </a:xfrm>
          <a:prstGeom prst="rect">
            <a:avLst/>
          </a:prstGeom>
          <a:solidFill>
            <a:srgbClr val="1A3945"/>
          </a:solidFill>
          <a:ln w="12700">
            <a:solidFill>
              <a:srgbClr val="3C6A78"/>
            </a:solidFill>
            <a:prstDash val="solid"/>
          </a:ln>
        </p:spPr>
      </p:sp>
      <p:pic>
        <p:nvPicPr>
          <p:cNvPr id="7" name="Image 0" descr="C:\Users\Windows\AppData\Local\Temp\claude\D--LLM-PJ\e00228e1-1589-4762-8c08-46f295611ffa\scratchpad\v7assets\deni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74520"/>
            <a:ext cx="6949440" cy="344728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1792" y="54132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7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10/22 一般會員直接輸入 /admin/ → 導回首頁「此功能僅限管理員使用」（J1-10）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28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驗證結果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2331720"/>
            <a:ext cx="3611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管理員登入成功（J1-01）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一般會員進後台被拒（J1-10）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錯密碼／停用／舊 cookie 自動測試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每台裝置可獨立撤權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寫入表單驗證 CSRF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51206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C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V6 標示「待補」的角色拒絕，10/22 已由 JEFF 本人於正式服務實測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57200"/>
            <a:ext cx="10972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購物車與示範結帳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服務以交易、版本檢查與操作識別碼維持資料一致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VibeCart AI　｜　黃健維　陳仁千　汪文彥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00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1783080"/>
            <a:ext cx="1984248" cy="640080"/>
          </a:xfrm>
          <a:prstGeom prst="rect">
            <a:avLst/>
          </a:prstGeom>
          <a:solidFill>
            <a:srgbClr val="22434F"/>
          </a:solidFill>
          <a:ln w="12700">
            <a:solidFill>
              <a:srgbClr val="3C6A7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 SKU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06040" y="2103120"/>
            <a:ext cx="256032" cy="0"/>
          </a:xfrm>
          <a:prstGeom prst="line">
            <a:avLst/>
          </a:prstGeom>
          <a:noFill/>
          <a:ln w="19050">
            <a:solidFill>
              <a:srgbClr val="38C5CD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2862072" y="1783080"/>
            <a:ext cx="1984248" cy="640080"/>
          </a:xfrm>
          <a:prstGeom prst="rect">
            <a:avLst/>
          </a:prstGeom>
          <a:solidFill>
            <a:srgbClr val="22434F"/>
          </a:solidFill>
          <a:ln w="12700">
            <a:solidFill>
              <a:srgbClr val="3C6A7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加入購物車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6320" y="2103120"/>
            <a:ext cx="256032" cy="0"/>
          </a:xfrm>
          <a:prstGeom prst="line">
            <a:avLst/>
          </a:prstGeom>
          <a:noFill/>
          <a:ln w="19050">
            <a:solidFill>
              <a:srgbClr val="38C5CD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5102352" y="1783080"/>
            <a:ext cx="1984248" cy="640080"/>
          </a:xfrm>
          <a:prstGeom prst="rect">
            <a:avLst/>
          </a:prstGeom>
          <a:solidFill>
            <a:srgbClr val="22434F"/>
          </a:solidFill>
          <a:ln w="12700">
            <a:solidFill>
              <a:srgbClr val="3C6A7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調整數量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86600" y="2103120"/>
            <a:ext cx="256032" cy="0"/>
          </a:xfrm>
          <a:prstGeom prst="line">
            <a:avLst/>
          </a:prstGeom>
          <a:noFill/>
          <a:ln w="19050">
            <a:solidFill>
              <a:srgbClr val="38C5CD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342632" y="1783080"/>
            <a:ext cx="1984248" cy="640080"/>
          </a:xfrm>
          <a:prstGeom prst="rect">
            <a:avLst/>
          </a:prstGeom>
          <a:solidFill>
            <a:srgbClr val="22434F"/>
          </a:solidFill>
          <a:ln w="12700">
            <a:solidFill>
              <a:srgbClr val="3C6A7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示範結帳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326880" y="2103120"/>
            <a:ext cx="256032" cy="0"/>
          </a:xfrm>
          <a:prstGeom prst="line">
            <a:avLst/>
          </a:prstGeom>
          <a:noFill/>
          <a:ln w="19050">
            <a:solidFill>
              <a:srgbClr val="38C5CD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9582912" y="1783080"/>
            <a:ext cx="1984248" cy="640080"/>
          </a:xfrm>
          <a:prstGeom prst="rect">
            <a:avLst/>
          </a:prstGeom>
          <a:solidFill>
            <a:srgbClr val="22434F"/>
          </a:solidFill>
          <a:ln w="12700">
            <a:solidFill>
              <a:srgbClr val="3C6A7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訂單與明細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2606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購物車版本衝突回報　・　同一識別碼重送不重複扣庫存　・　缺貨或錯誤時交易回滾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85216" y="3118104"/>
            <a:ext cx="5193792" cy="2816352"/>
          </a:xfrm>
          <a:prstGeom prst="rect">
            <a:avLst/>
          </a:prstGeom>
          <a:solidFill>
            <a:srgbClr val="1A3945"/>
          </a:solidFill>
          <a:ln w="12700">
            <a:solidFill>
              <a:srgbClr val="3C6A78"/>
            </a:solidFill>
            <a:prstDash val="solid"/>
          </a:ln>
        </p:spPr>
      </p:sp>
      <p:pic>
        <p:nvPicPr>
          <p:cNvPr id="17" name="Image 0" descr="C:\Users\Windows\AppData\Local\Temp\claude\D--LLM-PJ\e00228e1-1589-4762-8c08-46f295611ffa\scratchpad\v7assets\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3154680"/>
            <a:ext cx="5120640" cy="27432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419088" y="3118104"/>
            <a:ext cx="5193792" cy="2816352"/>
          </a:xfrm>
          <a:prstGeom prst="rect">
            <a:avLst/>
          </a:prstGeom>
          <a:solidFill>
            <a:srgbClr val="1A3945"/>
          </a:solidFill>
          <a:ln w="12700">
            <a:solidFill>
              <a:srgbClr val="3C6A78"/>
            </a:solidFill>
            <a:prstDash val="solid"/>
          </a:ln>
        </p:spPr>
      </p:sp>
      <p:pic>
        <p:nvPicPr>
          <p:cNvPr id="19" name="Image 1" descr="C:\Users\Windows\AppData\Local\Temp\claude\D--LLM-PJ\e00228e1-1589-4762-8c08-46f295611ffa\scratchpad\v7assets\or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3154680"/>
            <a:ext cx="5120640" cy="27432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21792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7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S05 購物車調整數量後建立示範訂單（不收款），訂單標記 is_demo；真實金流尚未串接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57200"/>
            <a:ext cx="10972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營運總覽與資料口徑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管理者在同一期間、同一示範範圍核對數字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VibeCart AI　｜　黃健維　陳仁千　汪文彥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00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" y="1837944"/>
            <a:ext cx="7022592" cy="3520440"/>
          </a:xfrm>
          <a:prstGeom prst="rect">
            <a:avLst/>
          </a:prstGeom>
          <a:solidFill>
            <a:srgbClr val="1A3945"/>
          </a:solidFill>
          <a:ln w="12700">
            <a:solidFill>
              <a:srgbClr val="3C6A78"/>
            </a:solidFill>
            <a:prstDash val="solid"/>
          </a:ln>
        </p:spPr>
      </p:sp>
      <p:pic>
        <p:nvPicPr>
          <p:cNvPr id="7" name="Image 0" descr="C:\Users\Windows\AppData\Local\Temp\claude\D--LLM-PJ\e00228e1-1589-4762-8c08-46f295611ffa\scratchpad\v7assets\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74520"/>
            <a:ext cx="6949440" cy="344728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1792" y="54132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7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10/22 正式後台營運決策中心（JEFF J1-02），預設範圍＝最近 100 筆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7830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NT$ 110,205.20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227685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有效營收（已付款且未取消）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2697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63 / 100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19125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有效／全部訂單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36118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NT$ 1,749.29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410565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平均客單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45262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8001000" y="502005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目前低庫存品項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數字含示範／合成資料，不代表實際營業額；「已付款」是指標狀態，非真實收款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57200"/>
            <a:ext cx="10972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推薦監控與行為權重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行為次數依 v4 政策加權；合成資料不進入歸因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VibeCart AI　｜　黃健維　陳仁千　汪文彥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00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783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行為權重（v4 政策）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21792" y="2286000"/>
            <a:ext cx="1188720" cy="685800"/>
          </a:xfrm>
          <a:prstGeom prst="rect">
            <a:avLst/>
          </a:prstGeom>
          <a:solidFill>
            <a:srgbClr val="22434F"/>
          </a:solidFill>
          <a:ln w="12700">
            <a:solidFill>
              <a:srgbClr val="3C6A7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76072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PURCHASE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2286000"/>
            <a:ext cx="1188720" cy="685800"/>
          </a:xfrm>
          <a:prstGeom prst="rect">
            <a:avLst/>
          </a:prstGeom>
          <a:solidFill>
            <a:srgbClr val="22434F"/>
          </a:solidFill>
          <a:ln w="12700">
            <a:solidFill>
              <a:srgbClr val="3C6A7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ADD_TO_CART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18688" y="2286000"/>
            <a:ext cx="1188720" cy="685800"/>
          </a:xfrm>
          <a:prstGeom prst="rect">
            <a:avLst/>
          </a:prstGeom>
          <a:solidFill>
            <a:srgbClr val="22434F"/>
          </a:solidFill>
          <a:ln w="12700">
            <a:solidFill>
              <a:srgbClr val="3C6A7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172968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SEARCH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17136" y="2286000"/>
            <a:ext cx="1188720" cy="685800"/>
          </a:xfrm>
          <a:prstGeom prst="rect">
            <a:avLst/>
          </a:prstGeom>
          <a:solidFill>
            <a:srgbClr val="22434F"/>
          </a:solidFill>
          <a:ln w="12700">
            <a:solidFill>
              <a:srgbClr val="3C6A7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471416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PRODUCT_VIEW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" y="3520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資料範圍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" y="402336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D4 synthetic 不進歸因，也不進個人推薦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示範購買只影響本人推薦，不計歸因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監控顯示行為次數，不等於推薦成效</a:t>
            </a:r>
            <a:endParaRPr lang="en-US" sz="15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JEFF J2 consumer 覆核 10/20 簽認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98464" y="1837944"/>
            <a:ext cx="5605272" cy="2651760"/>
          </a:xfrm>
          <a:prstGeom prst="rect">
            <a:avLst/>
          </a:prstGeom>
          <a:solidFill>
            <a:srgbClr val="1A3945"/>
          </a:solidFill>
          <a:ln w="12700">
            <a:solidFill>
              <a:srgbClr val="3C6A78"/>
            </a:solidFill>
            <a:prstDash val="solid"/>
          </a:ln>
        </p:spPr>
      </p:sp>
      <p:pic>
        <p:nvPicPr>
          <p:cNvPr id="18" name="Image 0" descr="C:\Users\Windows\AppData\Local\Temp\claude\D--LLM-PJ\e00228e1-1589-4762-8c08-46f295611ffa\scratchpad\v7assets\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874520"/>
            <a:ext cx="5532120" cy="257860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6035040" y="454456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7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10/22 推薦監控（J1-03）：30 天曝光 6、點擊 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57200"/>
            <a:ext cx="10972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LOCAL AI｜從商品資料到相似推薦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BGE 理解商品語意，結合可售庫存產生推薦候選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VibeCart AI　｜　黃健維　陳仁千　汪文彥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00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1874520"/>
            <a:ext cx="4754880" cy="640080"/>
          </a:xfrm>
          <a:prstGeom prst="rect">
            <a:avLst/>
          </a:prstGeom>
          <a:solidFill>
            <a:srgbClr val="22434F"/>
          </a:solidFill>
          <a:ln w="12700">
            <a:solidFill>
              <a:srgbClr val="3C6A7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商品資料與可售庫存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999232" y="2514600"/>
            <a:ext cx="0" cy="320040"/>
          </a:xfrm>
          <a:prstGeom prst="line">
            <a:avLst/>
          </a:prstGeom>
          <a:noFill/>
          <a:ln w="19050">
            <a:solidFill>
              <a:srgbClr val="38C5CD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21792" y="2834640"/>
            <a:ext cx="4754880" cy="640080"/>
          </a:xfrm>
          <a:prstGeom prst="rect">
            <a:avLst/>
          </a:prstGeom>
          <a:solidFill>
            <a:srgbClr val="22434F"/>
          </a:solidFill>
          <a:ln w="12700">
            <a:solidFill>
              <a:srgbClr val="3C6A7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BGE-small-zh-v1.5・512 維向量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99232" y="3474720"/>
            <a:ext cx="0" cy="320040"/>
          </a:xfrm>
          <a:prstGeom prst="line">
            <a:avLst/>
          </a:prstGeom>
          <a:noFill/>
          <a:ln w="19050">
            <a:solidFill>
              <a:srgbClr val="38C5CD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621792" y="3794760"/>
            <a:ext cx="4754880" cy="640080"/>
          </a:xfrm>
          <a:prstGeom prst="rect">
            <a:avLst/>
          </a:prstGeom>
          <a:solidFill>
            <a:srgbClr val="22434F"/>
          </a:solidFill>
          <a:ln w="12700">
            <a:solidFill>
              <a:srgbClr val="3C6A7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Top 5 相似商品與相似度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12648" y="48006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前台現況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" y="52578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首頁 BGE 旗標未啟用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「猜你喜歡」採規則推薦，實測 6＋0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98464" y="1837944"/>
            <a:ext cx="5605272" cy="2423160"/>
          </a:xfrm>
          <a:prstGeom prst="rect">
            <a:avLst/>
          </a:prstGeom>
          <a:solidFill>
            <a:srgbClr val="1A3945"/>
          </a:solidFill>
          <a:ln w="12700">
            <a:solidFill>
              <a:srgbClr val="3C6A78"/>
            </a:solidFill>
            <a:prstDash val="solid"/>
          </a:ln>
        </p:spPr>
      </p:sp>
      <p:pic>
        <p:nvPicPr>
          <p:cNvPr id="14" name="Image 0" descr="C:\Users\Windows\AppData\Local\Temp\claude\D--LLM-PJ\e00228e1-1589-4762-8c08-46f295611ffa\scratchpad\v7assets\lo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874520"/>
            <a:ext cx="5532120" cy="235000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035040" y="431596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7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10/22 正式後台 Local 推薦（PR #175 發布後）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035040" y="4663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86～95 秒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035040" y="511149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冷啟動首次載入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4663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96 ms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7909560" y="511149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暖快取 324/324 命中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784080" y="4663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/ 3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9784080" y="511149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並行請求 HTTP 200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57200"/>
            <a:ext cx="10972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 AI｜把營運資料變成洞察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只讀白名單彙總，產生本週主管摘要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VibeCart AI　｜　黃健維　陳仁千　汪文彥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00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" y="1837944"/>
            <a:ext cx="7022592" cy="3319272"/>
          </a:xfrm>
          <a:prstGeom prst="rect">
            <a:avLst/>
          </a:prstGeom>
          <a:solidFill>
            <a:srgbClr val="1A3945"/>
          </a:solidFill>
          <a:ln w="12700">
            <a:solidFill>
              <a:srgbClr val="3C6A78"/>
            </a:solidFill>
            <a:prstDash val="solid"/>
          </a:ln>
        </p:spPr>
      </p:sp>
      <p:pic>
        <p:nvPicPr>
          <p:cNvPr id="7" name="Image 0" descr="C:\Users\Windows\AppData\Local\Temp\claude\D--LLM-PJ\e00228e1-1589-4762-8c08-46f295611ffa\scratchpad\v7assets\ins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874520"/>
            <a:ext cx="6949440" cy="32461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1792" y="52120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7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10/22 13:28 雲端洞察（J1-05）：來源標籤 Claude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78308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claude-sonnet-5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225856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線上已啟用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269748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7.8～15.0 秒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17296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單次摘要耗時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001000" y="361188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5,286 / 389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408736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input / output tokens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452628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1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欄・9,032 字元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8001000" y="500176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白名單彙總，無姓名／Email／會員 ID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自由提問關閉；API 不可用時退回規則／快取；不寫入交易資料、不處理金流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57200"/>
            <a:ext cx="10972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LOCAL AI 與雲端 AI：各司其職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前台協助找商品，後台協助讀懂營運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VibeCart AI　｜　黃健維　陳仁千　汪文彥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00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874520"/>
          <a:ext cx="1095451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00400"/>
                <a:gridCol w="3291840"/>
                <a:gridCol w="2907792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方法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目的與輸出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10/22 正式實測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使用界線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5C6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4EEF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規則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4EEF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模型未啟用時維持推薦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4EEF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首頁個人推薦 6 項（分類偏好）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4EEF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退回結果明標為規則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4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4EEF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LOCAL AI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4EEF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BGE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4EEF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商品向量相似度，產生候選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4EEF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冷 86～95 秒；暖 96 ms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4EEF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依可售庫存與相關性採用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5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4EEF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雲端 AI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4EEF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Claude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4EEF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讀取彙總資料，產生營運摘要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4EEF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7.8～15.0 秒；5,286／389 tokens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E4EEF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不寫入資料，也不處理金流</a:t>
                      </a:r>
                      <a:endParaRPr lang="en-US" sz="15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6A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B4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12648" y="4983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量測原則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612648" y="5440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比較頁只記類型、耗時與 token；未量測時顯示「尚未量測」，不出現假數字（J1-08）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57200"/>
            <a:ext cx="10972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部署與測試證據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本機整合測試、CI、正式發布與手機實機各自留證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VibeCart AI　｜　黃健維　陳仁千　汪文彥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00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7830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407 passed / 35 skipped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322576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#175 本機整合測試（35 項需另外環境）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80720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 2 / 2 success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334670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Actions；合併 main 453600a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3831336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bge-lock-1022　100%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43708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 Run 正式流量・2Gi・最多 3 執行個體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4855464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5xx　0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539496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09:00 起觀察區間 85 筆日誌；Local 21 次皆 200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67344" y="1746504"/>
            <a:ext cx="1536192" cy="3264408"/>
          </a:xfrm>
          <a:prstGeom prst="rect">
            <a:avLst/>
          </a:prstGeom>
          <a:solidFill>
            <a:srgbClr val="1A3945"/>
          </a:solidFill>
          <a:ln w="12700">
            <a:solidFill>
              <a:srgbClr val="3C6A78"/>
            </a:solidFill>
            <a:prstDash val="solid"/>
          </a:ln>
        </p:spPr>
      </p:sp>
      <p:pic>
        <p:nvPicPr>
          <p:cNvPr id="15" name="Image 0" descr="C:\Users\Windows\AppData\Local\Temp\claude\D--LLM-PJ\e00228e1-1589-4762-8c08-46f295611ffa\scratchpad\v7assets\phon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1783080"/>
            <a:ext cx="1463040" cy="3191256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0113264" y="1746504"/>
            <a:ext cx="1490472" cy="3273552"/>
          </a:xfrm>
          <a:prstGeom prst="rect">
            <a:avLst/>
          </a:prstGeom>
          <a:solidFill>
            <a:srgbClr val="1A3945"/>
          </a:solidFill>
          <a:ln w="12700">
            <a:solidFill>
              <a:srgbClr val="3C6A78"/>
            </a:solidFill>
            <a:prstDash val="solid"/>
          </a:ln>
        </p:spPr>
      </p:sp>
      <p:pic>
        <p:nvPicPr>
          <p:cNvPr id="17" name="Image 1" descr="C:\Users\Windows\AppData\Local\Temp\claude\D--LLM-PJ\e00228e1-1589-4762-8c08-46f295611ffa\scratchpad\v7assets\phon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783080"/>
            <a:ext cx="1417320" cy="32004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503920" y="51206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7B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iPhone 16 Pro Max／Safari 實機：營運總覽與雲端洞察，單欄無水平溢出（J1-11）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621792" y="5852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D4 1,240 筆合成事件：缺漏 0，重送新增 0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57200"/>
            <a:ext cx="10972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資料保護與維運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權限、機密、AI 資料範圍與備份分開管理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VibeCart AI　｜　黃健維　陳仁千　汪文彥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00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" y="1828800"/>
            <a:ext cx="5394960" cy="1828800"/>
          </a:xfrm>
          <a:prstGeom prst="rect">
            <a:avLst/>
          </a:prstGeom>
          <a:solidFill>
            <a:srgbClr val="22434F"/>
          </a:solidFill>
          <a:ln w="12700">
            <a:solidFill>
              <a:srgbClr val="3C6A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011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存取控制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5603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每次請求檢查會員與管理員角色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寫入表單驗證 CSRF；裝置可獨立撤權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94960" cy="1828800"/>
          </a:xfrm>
          <a:prstGeom prst="rect">
            <a:avLst/>
          </a:prstGeom>
          <a:solidFill>
            <a:srgbClr val="22434F"/>
          </a:solidFill>
          <a:ln w="12700">
            <a:solidFill>
              <a:srgbClr val="3C6A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2011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機密管理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5603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金鑰與連線字串放 Secret Manager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帳密不入鏡、不寫入程式庫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" y="3886200"/>
            <a:ext cx="5394960" cy="1828800"/>
          </a:xfrm>
          <a:prstGeom prst="rect">
            <a:avLst/>
          </a:prstGeom>
          <a:solidFill>
            <a:srgbClr val="22434F"/>
          </a:solidFill>
          <a:ln w="12700">
            <a:solidFill>
              <a:srgbClr val="3C6A7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069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資料範圍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46177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只收白名單彙總，不含個資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不寫入訂單、庫存或金流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72200" y="3886200"/>
            <a:ext cx="5394960" cy="1828800"/>
          </a:xfrm>
          <a:prstGeom prst="rect">
            <a:avLst/>
          </a:prstGeom>
          <a:solidFill>
            <a:srgbClr val="22434F"/>
          </a:solidFill>
          <a:ln w="12700">
            <a:solidFill>
              <a:srgbClr val="3C6A7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4069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備份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46177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Drive 固定專案 980 檔加密、原明文移除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備份工具 133 項測試通過；全量對帳待完成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457200"/>
            <a:ext cx="10972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驗收進度與下一階段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本階段功能展示唯一未實作：真實金流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VibeCart AI　｜　黃健維　陳仁千　汪文彥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972800" y="6400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783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10/22 已完成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228600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JEFF J1 12 項：後台、AI 狀態、角色拒絕、手機實機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JEFF J2 behavior_events consumer 覆核簽認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PR #171 AI 介面改善、#175 BGE 冷啟動修正上線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Cloud Run 2Gi・最多 3 執行個體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Atlas 唯讀稽核 12 組關聯 0 orphan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382512" y="1783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C1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下一階段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382512" y="228600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真實金流：支付服務與成功回呼尚未串接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商品向量預先計算／持久化，縮短冷啟動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跨執行個體去重；輸出中文用語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REN／SAM 本人重做與 Drive 全量對帳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" y="5257800"/>
            <a:ext cx="10954512" cy="731520"/>
          </a:xfrm>
          <a:prstGeom prst="rect">
            <a:avLst/>
          </a:prstGeom>
          <a:solidFill>
            <a:srgbClr val="22434F"/>
          </a:solidFill>
          <a:ln w="12700">
            <a:solidFill>
              <a:srgbClr val="3C6A7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52578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V5 正式清單：3 / 14 結案、11 待結案　—　功能展示範圍與正式具名驗收分開計算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2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VibeCart AI　｜　黃健維　陳仁千　汪文彥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10972800" y="640080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1300" dirty="0"/>
          </a:p>
        </p:txBody>
      </p:sp>
      <p:pic>
        <p:nvPicPr>
          <p:cNvPr id="4" name="Image 0" descr="C:\Users\Windows\AppData\Local\Temp\claude\D--LLM-PJ\e00228e1-1589-4762-8c08-46f295611ffa\scratchpad\v7assets\tea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D3A">
              <a:alpha val="93000"/>
            </a:srgbClr>
          </a:solidFill>
          <a:ln w="12700">
            <a:solidFill>
              <a:srgbClr val="122D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" y="457200"/>
            <a:ext cx="10972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成果、團隊與 Q &amp; A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30936" y="1188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商品購物流程、LOCAL AI 推薦與雲端 AI 洞察已在正式站展示；真實金流留待下一階段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1792" y="2194560"/>
            <a:ext cx="3511296" cy="2377440"/>
          </a:xfrm>
          <a:prstGeom prst="rect">
            <a:avLst/>
          </a:prstGeom>
          <a:solidFill>
            <a:srgbClr val="22434F">
              <a:alpha val="90000"/>
            </a:srgbClr>
          </a:solidFill>
          <a:ln w="12700">
            <a:solidFill>
              <a:srgbClr val="3C6A7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6112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黃健維 JEFF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106104063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96112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jeff841117@gmail.com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96112" y="3840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推薦、營運分析與後台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343400" y="2194560"/>
            <a:ext cx="3511296" cy="2377440"/>
          </a:xfrm>
          <a:prstGeom prst="rect">
            <a:avLst/>
          </a:prstGeom>
          <a:solidFill>
            <a:srgbClr val="22434F">
              <a:alpha val="90000"/>
            </a:srgbClr>
          </a:solidFill>
          <a:ln w="12700">
            <a:solidFill>
              <a:srgbClr val="3C6A7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17720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陳仁千 REN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461772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105910496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617720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chen2000401@gmail.com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617720" y="3840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會員、購物車與訂單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065008" y="2194560"/>
            <a:ext cx="3511296" cy="2377440"/>
          </a:xfrm>
          <a:prstGeom prst="rect">
            <a:avLst/>
          </a:prstGeom>
          <a:solidFill>
            <a:srgbClr val="22434F">
              <a:alpha val="90000"/>
            </a:srgbClr>
          </a:solidFill>
          <a:ln w="12700">
            <a:solidFill>
              <a:srgbClr val="3C6A7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39328" y="2377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汪文彥 SAM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8339328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106084164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339328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cashsam@gmail.com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339328" y="3840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資料庫、測試、整合與交付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21792" y="5029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指導講師：簡志璁 Alvin　</a:t>
            </a:r>
            <a:pPr indent="0" marL="0">
              <a:buNone/>
            </a:pPr>
            <a:r>
              <a:rPr lang="en-US" sz="1500" u="sng" dirty="0">
                <a:solidFill>
                  <a:srgbClr val="C9D9D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fcaibialvin@gmail.com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778240" y="4846320"/>
            <a:ext cx="2798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38C5C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&amp; A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VibeCart AI 超市網購與 AI 系統 V7</dc:title>
  <dc:subject>PptxGenJS Presentation</dc:subject>
  <dc:creator>LLM-2601 第六組</dc:creator>
  <cp:lastModifiedBy>LLM-2601 第六組</cp:lastModifiedBy>
  <cp:revision>1</cp:revision>
  <dcterms:created xsi:type="dcterms:W3CDTF">2026-10-22T06:16:00Z</dcterms:created>
  <dcterms:modified xsi:type="dcterms:W3CDTF">2026-10-22T06:16:00Z</dcterms:modified>
</cp:coreProperties>
</file>
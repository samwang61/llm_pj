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開場約 30 秒。我們以超市網購為情境，串接商品、SKU、會員購物與營運數據，探索可解釋推薦及 AI 洞察。圖片為 AI 生成的概念插畫，與系統操作畫面分開。</a:t>
            </a:r>
          </a:p>
          <a:p>
            <a:r>
              <a:t>來源：https://github.com/SamWang61/LLM_PJ/blob/7affe59b23582940a2b83085c023c4b3b8b7d1e9/README.md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45 秒。消費者需要以分類和關鍵字找到商品並確認規格與價格。管理者需要核對期間營收、熱銷與即時庫存。右圖是有來源紀錄的零流量雲端預覽，屬於商品介面展示，不等於正式版已切換。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https://github.com/SamWang61/LLM_PJ/blob/7affe59b23582940a2b83085c023c4b3b8b7d1e9/README.md</a:t>
            </a:r>
          </a:p>
          <a:p>
            <a:r>
              <a:t>https://github.com/SamWang61/LLM_PJ/blob/7affe59b23582940a2b83085c023c4b3b8b7d1e9/簡報文件/screenshots/S02-tablet-layout-20261018.md</a:t>
            </a:r>
          </a:p>
          <a:p>
            <a:r>
              <a:t>截圖對應：S01／S02；圖為 10/18 零流量雲端預覽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70 秒。Flask 和 Jinja2 組成前後台，會員服務檢查角色與 CSRF，SKU 服務處理購物車及訂單，統計與 AI 讀取有界線的資料。AI 不直接持有任意資料庫執行權限。LangGraph 編排 BGE 與 Claude，正式模型旗標仍需以同版遠端驗收確認。圖中模組與連線可在 PowerPoint 編輯。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https://github.com/SamWang61/LLM_PJ/blob/7affe59b23582940a2b83085c023c4b3b8b7d1e9/docs/FLASK_SKU_AI_INTEGRATION.md</a:t>
            </a:r>
          </a:p>
          <a:p>
            <a:r>
              <a:t>https://github.com/SamWang61/LLM_PJ/blob/7affe59b23582940a2b83085c023c4b3b8b7d1e9/deploy/README.md</a:t>
            </a:r>
          </a:p>
          <a:p>
            <a:r>
              <a:t>https://github.com/SamWang61/LLM_PJ/blob/7affe59b23582940a2b83085c023c4b3b8b7d1e9/docs/SAM_PROGRESS_CHECKPOINT_2026-10-18.md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55 秒。336 商品和 SKU 是資料核對快照。3,000 訂單與 8,969 明細來自 D1～D3 合成批次，另有兩筆 demo，不把測試數字說成實際營業績效。D4 1,240 事件包含四事件各 310，全部有 synthetic 與 exclude_from_attribution 標記。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https://github.com/SamWang61/LLM_PJ/blob/7affe59b23582940a2b83085c023c4b3b8b7d1e9/docs/SAM_SCHEMA_AUDIT_2026-10-17.md</a:t>
            </a:r>
          </a:p>
          <a:p>
            <a:r>
              <a:t>https://github.com/SamWang61/LLM_PJ/blob/7affe59b23582940a2b83085c023c4b3b8b7d1e9/docs/D4_IMPORT_ACCEPTANCE_2026-10-18.md</a:t>
            </a:r>
          </a:p>
          <a:p>
            <a:r>
              <a:t>https://github.com/SamWang61/LLM_PJ/blob/7affe59b23582940a2b83085c023c4b3b8b7d1e9/docs/SAM_PROGRESS_CHECKPOINT_2026-10-18.md</a:t>
            </a:r>
          </a:p>
          <a:p>
            <a:r>
              <a:t>截圖對應：S10 schema／關聯／示範標記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55 秒。以刷樂醫生牙刷為例，10/17 截圖中的價格 NT$79、庫存 95 與當時 Atlas 唯讀讀回一致。庫存是當時快照，並非本次重新即時查詢。搜尋同時要檢查有結果與無結果，分類與分頁則保持查詢條件。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https://github.com/SamWang61/LLM_PJ/blob/7affe59b23582940a2b83085c023c4b3b8b7d1e9/docs/SAM_LIVE_CATALOG_AUDIT_2026-10-17.md</a:t>
            </a:r>
          </a:p>
          <a:p>
            <a:r>
              <a:t>https://github.com/SamWang61/LLM_PJ/blob/7affe59b23582940a2b83085c023c4b3b8b7d1e9/簡報文件/screenshots/S03-product-evidence.md</a:t>
            </a:r>
          </a:p>
          <a:p>
            <a:r>
              <a:t>截圖對應：S02 搜尋與空結果；S03 商品／SKU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55 秒。左圖為正式網站匿名登入頁，沒有輸入帳密。此圖只呈現入口，登入成功、錯誤帳號、停用、跨裝置與撤權需要各自的 S04 證據。多裝置登入採可獨立撤銷的 session，不以互相踢出代表完成。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https://github.com/SamWang61/LLM_PJ/blob/7affe59b23582940a2b83085c023c4b3b8b7d1e9/docs/REN_AUTH_ORDER.md</a:t>
            </a:r>
          </a:p>
          <a:p>
            <a:r>
              <a:t>https://github.com/SamWang61/LLM_PJ/blob/7affe59b23582940a2b83085c023c4b3b8b7d1e9/docs/SAM_RELEASE_2026-10-18.md</a:t>
            </a:r>
          </a:p>
          <a:p>
            <a:r>
              <a:t>https://github.com/SamWang61/LLM_PJ/blob/7affe59b23582940a2b83085c023c4b3b8b7d1e9/docs/SAM_PROGRESS_CHECKPOINT_2026-10-18.md</a:t>
            </a:r>
          </a:p>
          <a:p>
            <a:r>
              <a:t>截圖對應：S04 驗證待補；此圖來源為 S11 匿名登入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 秒。選 SKU 後加購，調整數量再示範結帳，交易內建立訂單和明細並扣庫存。expected_revision 防止舊購物車覆寫，checkout_id 與 operation_id 處理相同請求重送。186 項同版本機測試涵蓋 rollback、最後庫存併發與撤權 rollback。正式修訂的完整遠端會員交易仍需補同版證據。沒有金流或物流串接。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https://github.com/SamWang61/LLM_PJ/blob/7affe59b23582940a2b83085c023c4b3b8b7d1e9/docs/FLASK_SKU_AI_INTEGRATION.md</a:t>
            </a:r>
          </a:p>
          <a:p>
            <a:r>
              <a:t>https://github.com/SamWang61/LLM_PJ/blob/7affe59b23582940a2b83085c023c4b3b8b7d1e9/docs/SAM_RELEASE_2026-10-18.md</a:t>
            </a:r>
          </a:p>
          <a:p>
            <a:r>
              <a:t>截圖對應：S05 加購／改量／結帳／訂單與失敗情境，待補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 秒。候選先檢查 active、可推薦與庫存，規則基線提供冷啟動。搜尋文字或最近商品行為形成查詢，配置完成後由 BGE 做 cosine 相似度排序。模型未備妥時保留規則結果。正式 runtime 的 AI 旗標目前關閉，因此此頁講設計與程式流程，不宣稱正式模型已在線上運作。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https://github.com/SamWang61/LLM_PJ/blob/7affe59b23582940a2b83085c023c4b3b8b7d1e9/docs/FLASK_SKU_AI_INTEGRATION.md</a:t>
            </a:r>
          </a:p>
          <a:p>
            <a:r>
              <a:t>https://github.com/SamWang61/LLM_PJ/blob/7affe59b23582940a2b83085c023c4b3b8b7d1e9/docs/SAM_PROGRESS_CHECKPOINT_2026-10-18.md</a:t>
            </a:r>
          </a:p>
          <a:p>
            <a:r>
              <a:t>截圖對應：S07 推薦理由／冷啟動情境待補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 秒。有效營收採已付款且未取消的訂單，平均客單以有效訂單計算，沒有有效訂單時顯示空值。低庫存反映當前可用數量，不能當歷史庫存。S06 同版管理員畫面與資料對帳未齊，這一頁使用可編輯的定義表呈現已實作口徑，沒有填入虛構營收或 KPI。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https://github.com/SamWang61/LLM_PJ/blob/7affe59b23582940a2b83085c023c4b3b8b7d1e9/docs/AI_DASHBOARD.md</a:t>
            </a:r>
          </a:p>
          <a:p>
            <a:r>
              <a:t>截圖對應：S06 期間篩選／KPI／熱銷，同版操作圖待補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65 秒。規則提供可核對的基線，BGE 處理商品語意相似，Claude 依白名單彙總產生營運說明。三者任務不同，不把相似度與文字摘要當成同一準確率。正式模型和自由提問仍待遠端驗收，不填造耗時、token 或成本。真模型實測需註明配置、輸入、樣本和執行環境。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https://github.com/SamWang61/LLM_PJ/blob/7affe59b23582940a2b83085c023c4b3b8b7d1e9/docs/AI_DASHBOARD.md</a:t>
            </a:r>
          </a:p>
          <a:p>
            <a:r>
              <a:t>https://github.com/SamWang61/LLM_PJ/blob/7affe59b23582940a2b83085c023c4b3b8b7d1e9/docs/SAM_PROGRESS_CHECKPOINT_2026-10-18.md</a:t>
            </a:r>
          </a:p>
          <a:p>
            <a:r>
              <a:t>截圖對應：S08 同輸入／實際狀態／耗時／失敗退回，待補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70 秒。186 passed／0 skipped 為 80513a9 同版本機隔離 MongoDB 測試。D4 1,240 筆 apply、verify 和重送完成，並有 synthetic 排除歸因標記。正式發布紀錄 00013-ds5 在 00:12 為 100% 流量，此次簡報編輯沒有重新讀管理端。右圖為 390×844 瀏覽器窄視窗，不當作手機實機驗收。S09 Actions、S11 管理端與 S12 完整裝置畫面仍需補最終版本。</a:t>
            </a:r>
          </a:p>
          <a:p/>
          <a:p>
            <a:r>
              <a:t>來源：</a:t>
            </a:r>
          </a:p>
          <a:p>
            <a:r>
              <a:t>https://github.com/SamWang61/LLM_PJ/blob/7affe59b23582940a2b83085c023c4b3b8b7d1e9/docs/SAM_RELEASE_2026-10-18.md</a:t>
            </a:r>
          </a:p>
          <a:p>
            <a:r>
              <a:t>https://github.com/SamWang61/LLM_PJ/blob/7affe59b23582940a2b83085c023c4b3b8b7d1e9/docs/D4_IMPORT_ACCEPTANCE_2026-10-18.md</a:t>
            </a:r>
          </a:p>
          <a:p>
            <a:r>
              <a:t>https://github.com/SamWang61/LLM_PJ/blob/7affe59b23582940a2b83085c023c4b3b8b7d1e9/簡報文件/screenshots/S02-catalog-evidence.md</a:t>
            </a:r>
          </a:p>
          <a:p>
            <a:r>
              <a:t>截圖對應：S09 CI、S11 deployment、S12 mobile；右圖僅瀏覽器窄視窗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60～75 秒。本頁區分三種工作。AI 既有模組需完成正式配置、真模型品質與自由提問驗收；D5 的商品、SKU、訂單與會員維護及 180 天稽核、冪等收據仍需實作。金流與物流屬後續擴充提案，尚未確認排程，也沒有實際收款。現有網站功能的正式同版驗收、手機實機及備份復原屬交付前工作，不因列入本頁而延後或視為完成。最新紀錄已有同映像私有環境會員及交易驗收，但不等於正式業務庫與全站最終簽收。</a:t>
            </a:r>
          </a:p>
          <a:p/>
          <a:p>
            <a:r>
              <a:t>來源：</a:t>
            </a:r>
          </a:p>
          <a:p>
            <a:r>
              <a:t>https://github.com/SamWang61/LLM_PJ/blob/b209c58ada7aaaffc78446b6124206c2392d06e7/docs/SAM_PROGRESS_CHECKPOINT_2026-10-18.md</a:t>
            </a:r>
          </a:p>
          <a:p>
            <a:r>
              <a:t>https://github.com/SamWang61/LLM_PJ/blob/b209c58ada7aaaffc78446b6124206c2392d06e7/docs/JEFF_ADMIN_UI_DESIGN.md</a:t>
            </a:r>
          </a:p>
          <a:p>
            <a:r>
              <a:t>https://github.com/SamWang61/LLM_PJ/blob/b209c58ada7aaaffc78446b6124206c2392d06e7/docs/FLASK_SKU_AI_INTEGRATION.md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60～75 秒。本頁區分三種工作。AI 既有模組需完成正式配置、真模型品質與自由提問驗收；D5 的商品、SKU、訂單與會員維護及 180 天稽核、冪等收據仍需實作。金流與物流屬後續擴充提案，尚未確認排程，也沒有實際收款。現有網站功能的正式同版驗收、手機實機及備份復原屬交付前工作，不因列入本頁而延後或視為完成。最新紀錄已有同映像私有環境會員及交易驗收，但不等於正式業務庫與全站最終簽收。</a:t>
            </a:r>
          </a:p>
          <a:p/>
          <a:p>
            <a:r>
              <a:t>來源：</a:t>
            </a:r>
          </a:p>
          <a:p>
            <a:r>
              <a:t>https://github.com/SamWang61/LLM_PJ/blob/b209c58ada7aaaffc78446b6124206c2392d06e7/docs/SAM_PROGRESS_CHECKPOINT_2026-10-18.md</a:t>
            </a:r>
          </a:p>
          <a:p>
            <a:r>
              <a:t>https://github.com/SamWang61/LLM_PJ/blob/b209c58ada7aaaffc78446b6124206c2392d06e7/docs/JEFF_ADMIN_UI_DESIGN.md</a:t>
            </a:r>
          </a:p>
          <a:p>
            <a:r>
              <a:t>https://github.com/SamWang61/LLM_PJ/blob/b209c58ada7aaaffc78446b6124206c2392d06e7/docs/FLASK_SKU_AI_INTEGRATION.md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約 60 秒。已交付 SKU 資料服務、前後台整合、同版本機交易測試與 D4 批次驗證。後續補齊正式會員交易、真模型、D5 後台寫入與稽核，以及跨裝置素材和最終簽收。合照由使用者提供，原圖置於滿版底層，以白色透明遮罩呈現浮水印。組員與講師的姓名、學號、英文名、Email 見本頁及封面。</a:t>
            </a:r>
          </a:p>
          <a:p>
            <a:r>
              <a:t>來源：https://github.com/SamWang61/LLM_PJ/blob/7affe59b23582940a2b83085c023c4b3b8b7d1e9/docs/SAM_PROGRESS_CHECKPOINT_2026-10-18.md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6.xml"/><Relationship Id="rId6" Type="http://schemas.openxmlformats.org/officeDocument/2006/relationships/hyperlink" Target="mailto:fcaibialvin@gmail.com" TargetMode="External"/><Relationship Id="rId5" Type="http://schemas.openxmlformats.org/officeDocument/2006/relationships/hyperlink" Target="mailto:cashsam@gmail.com" TargetMode="External"/><Relationship Id="rId4" Type="http://schemas.openxmlformats.org/officeDocument/2006/relationships/hyperlink" Target="mailto:chen2000401@gmail.com" TargetMode="External"/><Relationship Id="rId3" Type="http://schemas.openxmlformats.org/officeDocument/2006/relationships/hyperlink" Target="mailto:jeff841117@gmail.com" TargetMode="Externa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6.xml"/><Relationship Id="rId5" Type="http://schemas.openxmlformats.org/officeDocument/2006/relationships/hyperlink" Target="mailto:fcaibialvin@gmail.com" TargetMode="External"/><Relationship Id="rId4" Type="http://schemas.openxmlformats.org/officeDocument/2006/relationships/hyperlink" Target="mailto:jeff841117@gmail.com" TargetMode="External"/><Relationship Id="rId3" Type="http://schemas.openxmlformats.org/officeDocument/2006/relationships/hyperlink" Target="mailto:chen2000401@gmail.com" TargetMode="External"/><Relationship Id="rId2" Type="http://schemas.openxmlformats.org/officeDocument/2006/relationships/hyperlink" Target="mailto:cashsam@gmail.com" TargetMode="External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5" name="圖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2554" y="342900"/>
            <a:ext cx="6566642" cy="3695700"/>
          </a:xfrm>
          <a:prstGeom prst="rect">
            <a:avLst/>
          </a:prstGeom>
        </p:spPr>
      </p:pic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2035" y="4149388"/>
            <a:ext cx="4333875" cy="2437805"/>
          </a:xfrm>
          <a:prstGeom prst="rect">
            <a:avLst/>
          </a:prstGeom>
        </p:spPr>
      </p:pic>
      <p:sp>
        <p:nvSpPr>
          <p:cNvPr id="3" name="VibeCart AI"/>
          <p:cNvSpPr>
            <a:spLocks noGrp="1"/>
          </p:cNvSpPr>
          <p:nvPr/>
        </p:nvSpPr>
        <p:spPr>
          <a:xfrm>
            <a:off x="609600" y="942975"/>
            <a:ext cx="6572250" cy="1009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5550" b="1">
                <a:solidFill>
                  <a:srgbClr val="14634B"/>
                </a:solidFill>
              </a:defRPr>
            </a:defPPr>
            <a:lvl1pPr algn="l">
              <a:buNone/>
              <a:defRPr sz="5550" b="1">
                <a:solidFill>
                  <a:srgbClr val="14634B"/>
                </a:solidFill>
              </a:defRPr>
            </a:lvl1pPr>
            <a:lvl2pPr algn="l">
              <a:buNone/>
              <a:defRPr sz="5550" b="1">
                <a:solidFill>
                  <a:srgbClr val="14634B"/>
                </a:solidFill>
              </a:defRPr>
            </a:lvl2pPr>
            <a:lvl3pPr algn="l">
              <a:buNone/>
              <a:defRPr sz="5550" b="1">
                <a:solidFill>
                  <a:srgbClr val="14634B"/>
                </a:solidFill>
              </a:defRPr>
            </a:lvl3pPr>
            <a:lvl4pPr algn="l">
              <a:buNone/>
              <a:defRPr sz="5550" b="1">
                <a:solidFill>
                  <a:srgbClr val="14634B"/>
                </a:solidFill>
              </a:defRPr>
            </a:lvl4pPr>
            <a:lvl5pPr algn="l">
              <a:buNone/>
              <a:defRPr sz="5550" b="1">
                <a:solidFill>
                  <a:srgbClr val="14634B"/>
                </a:solidFill>
              </a:defRPr>
            </a:lvl5pPr>
            <a:lvl6pPr algn="l">
              <a:buNone/>
              <a:defRPr sz="5550" b="1">
                <a:solidFill>
                  <a:srgbClr val="14634B"/>
                </a:solidFill>
              </a:defRPr>
            </a:lvl6pPr>
            <a:lvl7pPr algn="l">
              <a:buNone/>
              <a:defRPr sz="5550" b="1">
                <a:solidFill>
                  <a:srgbClr val="14634B"/>
                </a:solidFill>
              </a:defRPr>
            </a:lvl7pPr>
            <a:lvl8pPr algn="l">
              <a:buNone/>
              <a:defRPr sz="5550" b="1">
                <a:solidFill>
                  <a:srgbClr val="14634B"/>
                </a:solidFill>
              </a:defRPr>
            </a:lvl8pPr>
            <a:lvl9pPr algn="l">
              <a:buNone/>
              <a:defRPr sz="55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5550" b="1">
                <a:solidFill>
                  <a:srgbClr val="14634B"/>
                </a:solidFill>
              </a:defRPr>
            </a:pPr>
            <a:r>
              <a:rPr sz="5550" b="1">
                <a:solidFill>
                  <a:srgbClr val="14634B"/>
                </a:solidFill>
              </a:rPr>
              <a:t>VibeCart AI</a:t>
            </a:r>
            <a:endParaRPr sz="5550" b="1">
              <a:solidFill>
                <a:srgbClr val="14634B"/>
              </a:solidFill>
            </a:endParaRPr>
          </a:p>
        </p:txBody>
      </p:sp>
      <p:sp>
        <p:nvSpPr>
          <p:cNvPr id="4" name="智慧購物與營運分析"/>
          <p:cNvSpPr>
            <a:spLocks noGrp="1"/>
          </p:cNvSpPr>
          <p:nvPr/>
        </p:nvSpPr>
        <p:spPr>
          <a:xfrm>
            <a:off x="647700" y="2028825"/>
            <a:ext cx="6667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225" b="1">
                <a:solidFill>
                  <a:srgbClr val="122D3A"/>
                </a:solidFill>
              </a:defRPr>
            </a:defPPr>
            <a:lvl1pPr algn="l">
              <a:buNone/>
              <a:defRPr sz="3225" b="1">
                <a:solidFill>
                  <a:srgbClr val="122D3A"/>
                </a:solidFill>
              </a:defRPr>
            </a:lvl1pPr>
            <a:lvl2pPr algn="l">
              <a:buNone/>
              <a:defRPr sz="3225" b="1">
                <a:solidFill>
                  <a:srgbClr val="122D3A"/>
                </a:solidFill>
              </a:defRPr>
            </a:lvl2pPr>
            <a:lvl3pPr algn="l">
              <a:buNone/>
              <a:defRPr sz="3225" b="1">
                <a:solidFill>
                  <a:srgbClr val="122D3A"/>
                </a:solidFill>
              </a:defRPr>
            </a:lvl3pPr>
            <a:lvl4pPr algn="l">
              <a:buNone/>
              <a:defRPr sz="3225" b="1">
                <a:solidFill>
                  <a:srgbClr val="122D3A"/>
                </a:solidFill>
              </a:defRPr>
            </a:lvl4pPr>
            <a:lvl5pPr algn="l">
              <a:buNone/>
              <a:defRPr sz="3225" b="1">
                <a:solidFill>
                  <a:srgbClr val="122D3A"/>
                </a:solidFill>
              </a:defRPr>
            </a:lvl5pPr>
            <a:lvl6pPr algn="l">
              <a:buNone/>
              <a:defRPr sz="3225" b="1">
                <a:solidFill>
                  <a:srgbClr val="122D3A"/>
                </a:solidFill>
              </a:defRPr>
            </a:lvl6pPr>
            <a:lvl7pPr algn="l">
              <a:buNone/>
              <a:defRPr sz="3225" b="1">
                <a:solidFill>
                  <a:srgbClr val="122D3A"/>
                </a:solidFill>
              </a:defRPr>
            </a:lvl7pPr>
            <a:lvl8pPr algn="l">
              <a:buNone/>
              <a:defRPr sz="3225" b="1">
                <a:solidFill>
                  <a:srgbClr val="122D3A"/>
                </a:solidFill>
              </a:defRPr>
            </a:lvl8pPr>
            <a:lvl9pPr algn="l">
              <a:buNone/>
              <a:defRPr sz="3225" b="1">
                <a:solidFill>
                  <a:srgbClr val="122D3A"/>
                </a:solidFill>
              </a:defRPr>
            </a:lvl9pPr>
          </a:lstStyle>
          <a:p>
            <a:pPr algn="l">
              <a:buNone/>
              <a:defRPr sz="3225" b="1">
                <a:solidFill>
                  <a:srgbClr val="122D3A"/>
                </a:solidFill>
              </a:defRPr>
            </a:pPr>
            <a:r>
              <a:rPr sz="3225" b="1">
                <a:solidFill>
                  <a:srgbClr val="122D3A"/>
                </a:solidFill>
              </a:rPr>
              <a:t>智慧購物與營運分析</a:t>
            </a:r>
            <a:endParaRPr sz="3225" b="1">
              <a:solidFill>
                <a:srgbClr val="122D3A"/>
              </a:solidFill>
            </a:endParaRPr>
          </a:p>
        </p:txBody>
      </p:sp>
      <p:sp>
        <p:nvSpPr>
          <p:cNvPr id="5" name="超市網購 × AI 推薦 × 資料驗證"/>
          <p:cNvSpPr>
            <a:spLocks noGrp="1"/>
          </p:cNvSpPr>
          <p:nvPr/>
        </p:nvSpPr>
        <p:spPr>
          <a:xfrm>
            <a:off x="657225" y="2990850"/>
            <a:ext cx="6477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950" b="0">
                <a:solidFill>
                  <a:srgbClr val="536760"/>
                </a:solidFill>
              </a:defRPr>
            </a:defPPr>
            <a:lvl1pPr algn="l">
              <a:buNone/>
              <a:defRPr sz="1950" b="0">
                <a:solidFill>
                  <a:srgbClr val="536760"/>
                </a:solidFill>
              </a:defRPr>
            </a:lvl1pPr>
            <a:lvl2pPr algn="l">
              <a:buNone/>
              <a:defRPr sz="1950" b="0">
                <a:solidFill>
                  <a:srgbClr val="536760"/>
                </a:solidFill>
              </a:defRPr>
            </a:lvl2pPr>
            <a:lvl3pPr algn="l">
              <a:buNone/>
              <a:defRPr sz="1950" b="0">
                <a:solidFill>
                  <a:srgbClr val="536760"/>
                </a:solidFill>
              </a:defRPr>
            </a:lvl3pPr>
            <a:lvl4pPr algn="l">
              <a:buNone/>
              <a:defRPr sz="1950" b="0">
                <a:solidFill>
                  <a:srgbClr val="536760"/>
                </a:solidFill>
              </a:defRPr>
            </a:lvl4pPr>
            <a:lvl5pPr algn="l">
              <a:buNone/>
              <a:defRPr sz="1950" b="0">
                <a:solidFill>
                  <a:srgbClr val="536760"/>
                </a:solidFill>
              </a:defRPr>
            </a:lvl5pPr>
            <a:lvl6pPr algn="l">
              <a:buNone/>
              <a:defRPr sz="1950" b="0">
                <a:solidFill>
                  <a:srgbClr val="536760"/>
                </a:solidFill>
              </a:defRPr>
            </a:lvl6pPr>
            <a:lvl7pPr algn="l">
              <a:buNone/>
              <a:defRPr sz="1950" b="0">
                <a:solidFill>
                  <a:srgbClr val="536760"/>
                </a:solidFill>
              </a:defRPr>
            </a:lvl7pPr>
            <a:lvl8pPr algn="l">
              <a:buNone/>
              <a:defRPr sz="1950" b="0">
                <a:solidFill>
                  <a:srgbClr val="536760"/>
                </a:solidFill>
              </a:defRPr>
            </a:lvl8pPr>
            <a:lvl9pPr algn="l">
              <a:buNone/>
              <a:defRPr sz="195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950" b="0">
                <a:solidFill>
                  <a:srgbClr val="536760"/>
                </a:solidFill>
              </a:defRPr>
            </a:pPr>
            <a:r>
              <a:rPr sz="1950" b="0">
                <a:solidFill>
                  <a:srgbClr val="536760"/>
                </a:solidFill>
              </a:rPr>
              <a:t>超市網購 × AI 推薦 × 資料驗證</a:t>
            </a:r>
            <a:endParaRPr sz="1950" b="0">
              <a:solidFill>
                <a:srgbClr val="536760"/>
              </a:solidFill>
            </a:endParaRPr>
          </a:p>
        </p:txBody>
      </p:sp>
      <p:sp>
        <p:nvSpPr>
          <p:cNvPr id="6" name="聯成資訊 LLM-2601 第六組"/>
          <p:cNvSpPr>
            <a:spLocks noGrp="1"/>
          </p:cNvSpPr>
          <p:nvPr/>
        </p:nvSpPr>
        <p:spPr>
          <a:xfrm>
            <a:off x="657225" y="3514725"/>
            <a:ext cx="6381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75" b="1">
                <a:solidFill>
                  <a:srgbClr val="14634B"/>
                </a:solidFill>
              </a:defRPr>
            </a:defPPr>
            <a:lvl1pPr algn="l">
              <a:buNone/>
              <a:defRPr sz="1875" b="1">
                <a:solidFill>
                  <a:srgbClr val="14634B"/>
                </a:solidFill>
              </a:defRPr>
            </a:lvl1pPr>
            <a:lvl2pPr algn="l">
              <a:buNone/>
              <a:defRPr sz="1875" b="1">
                <a:solidFill>
                  <a:srgbClr val="14634B"/>
                </a:solidFill>
              </a:defRPr>
            </a:lvl2pPr>
            <a:lvl3pPr algn="l">
              <a:buNone/>
              <a:defRPr sz="1875" b="1">
                <a:solidFill>
                  <a:srgbClr val="14634B"/>
                </a:solidFill>
              </a:defRPr>
            </a:lvl3pPr>
            <a:lvl4pPr algn="l">
              <a:buNone/>
              <a:defRPr sz="1875" b="1">
                <a:solidFill>
                  <a:srgbClr val="14634B"/>
                </a:solidFill>
              </a:defRPr>
            </a:lvl4pPr>
            <a:lvl5pPr algn="l">
              <a:buNone/>
              <a:defRPr sz="1875" b="1">
                <a:solidFill>
                  <a:srgbClr val="14634B"/>
                </a:solidFill>
              </a:defRPr>
            </a:lvl5pPr>
            <a:lvl6pPr algn="l">
              <a:buNone/>
              <a:defRPr sz="1875" b="1">
                <a:solidFill>
                  <a:srgbClr val="14634B"/>
                </a:solidFill>
              </a:defRPr>
            </a:lvl6pPr>
            <a:lvl7pPr algn="l">
              <a:buNone/>
              <a:defRPr sz="1875" b="1">
                <a:solidFill>
                  <a:srgbClr val="14634B"/>
                </a:solidFill>
              </a:defRPr>
            </a:lvl7pPr>
            <a:lvl8pPr algn="l">
              <a:buNone/>
              <a:defRPr sz="1875" b="1">
                <a:solidFill>
                  <a:srgbClr val="14634B"/>
                </a:solidFill>
              </a:defRPr>
            </a:lvl8pPr>
            <a:lvl9pPr algn="l">
              <a:buNone/>
              <a:defRPr sz="1875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875" b="1">
                <a:solidFill>
                  <a:srgbClr val="14634B"/>
                </a:solidFill>
              </a:defRPr>
            </a:pPr>
            <a:r>
              <a:rPr sz="1875" b="1">
                <a:solidFill>
                  <a:srgbClr val="14634B"/>
                </a:solidFill>
              </a:rPr>
              <a:t>聯成資訊 LLM-2601 第六組</a:t>
            </a:r>
            <a:endParaRPr sz="1875" b="1">
              <a:solidFill>
                <a:srgbClr val="14634B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" y="4048125"/>
            <a:ext cx="6191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14634B"/>
                </a:solidFill>
              </a:defRPr>
            </a:defPPr>
            <a:lvl1pPr algn="l">
              <a:buNone/>
              <a:defRPr sz="1800" b="0">
                <a:solidFill>
                  <a:srgbClr val="14634B"/>
                </a:solidFill>
              </a:defRPr>
            </a:lvl1pPr>
            <a:lvl2pPr algn="l">
              <a:buNone/>
              <a:defRPr sz="1800" b="0">
                <a:solidFill>
                  <a:srgbClr val="14634B"/>
                </a:solidFill>
              </a:defRPr>
            </a:lvl2pPr>
            <a:lvl3pPr algn="l">
              <a:buNone/>
              <a:defRPr sz="1800" b="0">
                <a:solidFill>
                  <a:srgbClr val="14634B"/>
                </a:solidFill>
              </a:defRPr>
            </a:lvl3pPr>
            <a:lvl4pPr algn="l">
              <a:buNone/>
              <a:defRPr sz="1800" b="0">
                <a:solidFill>
                  <a:srgbClr val="14634B"/>
                </a:solidFill>
              </a:defRPr>
            </a:lvl4pPr>
            <a:lvl5pPr algn="l">
              <a:buNone/>
              <a:defRPr sz="1800" b="0">
                <a:solidFill>
                  <a:srgbClr val="14634B"/>
                </a:solidFill>
              </a:defRPr>
            </a:lvl5pPr>
            <a:lvl6pPr algn="l">
              <a:buNone/>
              <a:defRPr sz="1800" b="0">
                <a:solidFill>
                  <a:srgbClr val="14634B"/>
                </a:solidFill>
              </a:defRPr>
            </a:lvl6pPr>
            <a:lvl7pPr algn="l">
              <a:buNone/>
              <a:defRPr sz="1800" b="0">
                <a:solidFill>
                  <a:srgbClr val="14634B"/>
                </a:solidFill>
              </a:defRPr>
            </a:lvl7pPr>
            <a:lvl8pPr algn="l">
              <a:buNone/>
              <a:defRPr sz="1800" b="0">
                <a:solidFill>
                  <a:srgbClr val="14634B"/>
                </a:solidFill>
              </a:defRPr>
            </a:lvl8pPr>
            <a:lvl9pPr algn="l">
              <a:buNone/>
              <a:defRPr sz="18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14634B"/>
                </a:solidFill>
              </a:defRPr>
            </a:pPr>
            <a:r>
              <a:rPr sz="18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3"/>
              </a:rPr>
              <a:t>106104063　黃健維 JEFF</a:t>
            </a:r>
            <a:endParaRPr sz="18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3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57225" y="4352925"/>
            <a:ext cx="619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536760"/>
                </a:solidFill>
              </a:defRPr>
            </a:defPPr>
            <a:lvl1pPr algn="l">
              <a:buNone/>
              <a:defRPr sz="1500" b="0">
                <a:solidFill>
                  <a:srgbClr val="536760"/>
                </a:solidFill>
              </a:defRPr>
            </a:lvl1pPr>
            <a:lvl2pPr algn="l">
              <a:buNone/>
              <a:defRPr sz="1500" b="0">
                <a:solidFill>
                  <a:srgbClr val="536760"/>
                </a:solidFill>
              </a:defRPr>
            </a:lvl2pPr>
            <a:lvl3pPr algn="l">
              <a:buNone/>
              <a:defRPr sz="1500" b="0">
                <a:solidFill>
                  <a:srgbClr val="536760"/>
                </a:solidFill>
              </a:defRPr>
            </a:lvl3pPr>
            <a:lvl4pPr algn="l">
              <a:buNone/>
              <a:defRPr sz="1500" b="0">
                <a:solidFill>
                  <a:srgbClr val="536760"/>
                </a:solidFill>
              </a:defRPr>
            </a:lvl4pPr>
            <a:lvl5pPr algn="l">
              <a:buNone/>
              <a:defRPr sz="1500" b="0">
                <a:solidFill>
                  <a:srgbClr val="536760"/>
                </a:solidFill>
              </a:defRPr>
            </a:lvl5pPr>
            <a:lvl6pPr algn="l">
              <a:buNone/>
              <a:defRPr sz="1500" b="0">
                <a:solidFill>
                  <a:srgbClr val="536760"/>
                </a:solidFill>
              </a:defRPr>
            </a:lvl6pPr>
            <a:lvl7pPr algn="l">
              <a:buNone/>
              <a:defRPr sz="1500" b="0">
                <a:solidFill>
                  <a:srgbClr val="536760"/>
                </a:solidFill>
              </a:defRPr>
            </a:lvl7pPr>
            <a:lvl8pPr algn="l">
              <a:buNone/>
              <a:defRPr sz="1500" b="0">
                <a:solidFill>
                  <a:srgbClr val="536760"/>
                </a:solidFill>
              </a:defRPr>
            </a:lvl8pPr>
            <a:lvl9pPr algn="l">
              <a:buNone/>
              <a:defRPr sz="15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536760"/>
                </a:solidFill>
              </a:defRPr>
            </a:pPr>
            <a:r>
              <a:rPr sz="150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3"/>
              </a:rPr>
              <a:t>jeff841117@gmail.com</a:t>
            </a:r>
            <a:endParaRPr sz="150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3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7225" y="4657725"/>
            <a:ext cx="6191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14634B"/>
                </a:solidFill>
              </a:defRPr>
            </a:defPPr>
            <a:lvl1pPr algn="l">
              <a:buNone/>
              <a:defRPr sz="1800" b="0">
                <a:solidFill>
                  <a:srgbClr val="14634B"/>
                </a:solidFill>
              </a:defRPr>
            </a:lvl1pPr>
            <a:lvl2pPr algn="l">
              <a:buNone/>
              <a:defRPr sz="1800" b="0">
                <a:solidFill>
                  <a:srgbClr val="14634B"/>
                </a:solidFill>
              </a:defRPr>
            </a:lvl2pPr>
            <a:lvl3pPr algn="l">
              <a:buNone/>
              <a:defRPr sz="1800" b="0">
                <a:solidFill>
                  <a:srgbClr val="14634B"/>
                </a:solidFill>
              </a:defRPr>
            </a:lvl3pPr>
            <a:lvl4pPr algn="l">
              <a:buNone/>
              <a:defRPr sz="1800" b="0">
                <a:solidFill>
                  <a:srgbClr val="14634B"/>
                </a:solidFill>
              </a:defRPr>
            </a:lvl4pPr>
            <a:lvl5pPr algn="l">
              <a:buNone/>
              <a:defRPr sz="1800" b="0">
                <a:solidFill>
                  <a:srgbClr val="14634B"/>
                </a:solidFill>
              </a:defRPr>
            </a:lvl5pPr>
            <a:lvl6pPr algn="l">
              <a:buNone/>
              <a:defRPr sz="1800" b="0">
                <a:solidFill>
                  <a:srgbClr val="14634B"/>
                </a:solidFill>
              </a:defRPr>
            </a:lvl6pPr>
            <a:lvl7pPr algn="l">
              <a:buNone/>
              <a:defRPr sz="1800" b="0">
                <a:solidFill>
                  <a:srgbClr val="14634B"/>
                </a:solidFill>
              </a:defRPr>
            </a:lvl7pPr>
            <a:lvl8pPr algn="l">
              <a:buNone/>
              <a:defRPr sz="1800" b="0">
                <a:solidFill>
                  <a:srgbClr val="14634B"/>
                </a:solidFill>
              </a:defRPr>
            </a:lvl8pPr>
            <a:lvl9pPr algn="l">
              <a:buNone/>
              <a:defRPr sz="18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14634B"/>
                </a:solidFill>
              </a:defRPr>
            </a:pPr>
            <a:r>
              <a:rPr sz="18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4"/>
              </a:rPr>
              <a:t>105910496　陳仁千 REN</a:t>
            </a:r>
            <a:endParaRPr sz="18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57225" y="4962525"/>
            <a:ext cx="619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536760"/>
                </a:solidFill>
              </a:defRPr>
            </a:defPPr>
            <a:lvl1pPr algn="l">
              <a:buNone/>
              <a:defRPr sz="1500" b="0">
                <a:solidFill>
                  <a:srgbClr val="536760"/>
                </a:solidFill>
              </a:defRPr>
            </a:lvl1pPr>
            <a:lvl2pPr algn="l">
              <a:buNone/>
              <a:defRPr sz="1500" b="0">
                <a:solidFill>
                  <a:srgbClr val="536760"/>
                </a:solidFill>
              </a:defRPr>
            </a:lvl2pPr>
            <a:lvl3pPr algn="l">
              <a:buNone/>
              <a:defRPr sz="1500" b="0">
                <a:solidFill>
                  <a:srgbClr val="536760"/>
                </a:solidFill>
              </a:defRPr>
            </a:lvl3pPr>
            <a:lvl4pPr algn="l">
              <a:buNone/>
              <a:defRPr sz="1500" b="0">
                <a:solidFill>
                  <a:srgbClr val="536760"/>
                </a:solidFill>
              </a:defRPr>
            </a:lvl4pPr>
            <a:lvl5pPr algn="l">
              <a:buNone/>
              <a:defRPr sz="1500" b="0">
                <a:solidFill>
                  <a:srgbClr val="536760"/>
                </a:solidFill>
              </a:defRPr>
            </a:lvl5pPr>
            <a:lvl6pPr algn="l">
              <a:buNone/>
              <a:defRPr sz="1500" b="0">
                <a:solidFill>
                  <a:srgbClr val="536760"/>
                </a:solidFill>
              </a:defRPr>
            </a:lvl6pPr>
            <a:lvl7pPr algn="l">
              <a:buNone/>
              <a:defRPr sz="1500" b="0">
                <a:solidFill>
                  <a:srgbClr val="536760"/>
                </a:solidFill>
              </a:defRPr>
            </a:lvl7pPr>
            <a:lvl8pPr algn="l">
              <a:buNone/>
              <a:defRPr sz="1500" b="0">
                <a:solidFill>
                  <a:srgbClr val="536760"/>
                </a:solidFill>
              </a:defRPr>
            </a:lvl8pPr>
            <a:lvl9pPr algn="l">
              <a:buNone/>
              <a:defRPr sz="15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536760"/>
                </a:solidFill>
              </a:defRPr>
            </a:pPr>
            <a:r>
              <a:rPr sz="150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4"/>
              </a:rPr>
              <a:t>chen2000401@gmail.com</a:t>
            </a:r>
            <a:endParaRPr sz="150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57225" y="5267325"/>
            <a:ext cx="6191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14634B"/>
                </a:solidFill>
              </a:defRPr>
            </a:defPPr>
            <a:lvl1pPr algn="l">
              <a:buNone/>
              <a:defRPr sz="1800" b="0">
                <a:solidFill>
                  <a:srgbClr val="14634B"/>
                </a:solidFill>
              </a:defRPr>
            </a:lvl1pPr>
            <a:lvl2pPr algn="l">
              <a:buNone/>
              <a:defRPr sz="1800" b="0">
                <a:solidFill>
                  <a:srgbClr val="14634B"/>
                </a:solidFill>
              </a:defRPr>
            </a:lvl2pPr>
            <a:lvl3pPr algn="l">
              <a:buNone/>
              <a:defRPr sz="1800" b="0">
                <a:solidFill>
                  <a:srgbClr val="14634B"/>
                </a:solidFill>
              </a:defRPr>
            </a:lvl3pPr>
            <a:lvl4pPr algn="l">
              <a:buNone/>
              <a:defRPr sz="1800" b="0">
                <a:solidFill>
                  <a:srgbClr val="14634B"/>
                </a:solidFill>
              </a:defRPr>
            </a:lvl4pPr>
            <a:lvl5pPr algn="l">
              <a:buNone/>
              <a:defRPr sz="1800" b="0">
                <a:solidFill>
                  <a:srgbClr val="14634B"/>
                </a:solidFill>
              </a:defRPr>
            </a:lvl5pPr>
            <a:lvl6pPr algn="l">
              <a:buNone/>
              <a:defRPr sz="1800" b="0">
                <a:solidFill>
                  <a:srgbClr val="14634B"/>
                </a:solidFill>
              </a:defRPr>
            </a:lvl6pPr>
            <a:lvl7pPr algn="l">
              <a:buNone/>
              <a:defRPr sz="1800" b="0">
                <a:solidFill>
                  <a:srgbClr val="14634B"/>
                </a:solidFill>
              </a:defRPr>
            </a:lvl7pPr>
            <a:lvl8pPr algn="l">
              <a:buNone/>
              <a:defRPr sz="1800" b="0">
                <a:solidFill>
                  <a:srgbClr val="14634B"/>
                </a:solidFill>
              </a:defRPr>
            </a:lvl8pPr>
            <a:lvl9pPr algn="l">
              <a:buNone/>
              <a:defRPr sz="18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14634B"/>
                </a:solidFill>
              </a:defRPr>
            </a:pPr>
            <a:r>
              <a:rPr sz="18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5"/>
              </a:rPr>
              <a:t>106084164　汪文彥 SAM</a:t>
            </a:r>
            <a:endParaRPr sz="18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5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57225" y="5572125"/>
            <a:ext cx="619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536760"/>
                </a:solidFill>
              </a:defRPr>
            </a:defPPr>
            <a:lvl1pPr algn="l">
              <a:buNone/>
              <a:defRPr sz="1500" b="0">
                <a:solidFill>
                  <a:srgbClr val="536760"/>
                </a:solidFill>
              </a:defRPr>
            </a:lvl1pPr>
            <a:lvl2pPr algn="l">
              <a:buNone/>
              <a:defRPr sz="1500" b="0">
                <a:solidFill>
                  <a:srgbClr val="536760"/>
                </a:solidFill>
              </a:defRPr>
            </a:lvl2pPr>
            <a:lvl3pPr algn="l">
              <a:buNone/>
              <a:defRPr sz="1500" b="0">
                <a:solidFill>
                  <a:srgbClr val="536760"/>
                </a:solidFill>
              </a:defRPr>
            </a:lvl3pPr>
            <a:lvl4pPr algn="l">
              <a:buNone/>
              <a:defRPr sz="1500" b="0">
                <a:solidFill>
                  <a:srgbClr val="536760"/>
                </a:solidFill>
              </a:defRPr>
            </a:lvl4pPr>
            <a:lvl5pPr algn="l">
              <a:buNone/>
              <a:defRPr sz="1500" b="0">
                <a:solidFill>
                  <a:srgbClr val="536760"/>
                </a:solidFill>
              </a:defRPr>
            </a:lvl5pPr>
            <a:lvl6pPr algn="l">
              <a:buNone/>
              <a:defRPr sz="1500" b="0">
                <a:solidFill>
                  <a:srgbClr val="536760"/>
                </a:solidFill>
              </a:defRPr>
            </a:lvl6pPr>
            <a:lvl7pPr algn="l">
              <a:buNone/>
              <a:defRPr sz="1500" b="0">
                <a:solidFill>
                  <a:srgbClr val="536760"/>
                </a:solidFill>
              </a:defRPr>
            </a:lvl7pPr>
            <a:lvl8pPr algn="l">
              <a:buNone/>
              <a:defRPr sz="1500" b="0">
                <a:solidFill>
                  <a:srgbClr val="536760"/>
                </a:solidFill>
              </a:defRPr>
            </a:lvl8pPr>
            <a:lvl9pPr algn="l">
              <a:buNone/>
              <a:defRPr sz="15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536760"/>
                </a:solidFill>
              </a:defRPr>
            </a:pPr>
            <a:r>
              <a:rPr sz="150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5"/>
              </a:rPr>
              <a:t>cashsam@gmail.com</a:t>
            </a:r>
            <a:endParaRPr sz="150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5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57225" y="6057900"/>
            <a:ext cx="6667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650" b="0">
                <a:solidFill>
                  <a:srgbClr val="536760"/>
                </a:solidFill>
              </a:defRPr>
            </a:defPPr>
            <a:lvl1pPr algn="l">
              <a:buNone/>
              <a:defRPr sz="1650" b="0">
                <a:solidFill>
                  <a:srgbClr val="536760"/>
                </a:solidFill>
              </a:defRPr>
            </a:lvl1pPr>
            <a:lvl2pPr algn="l">
              <a:buNone/>
              <a:defRPr sz="1650" b="0">
                <a:solidFill>
                  <a:srgbClr val="536760"/>
                </a:solidFill>
              </a:defRPr>
            </a:lvl2pPr>
            <a:lvl3pPr algn="l">
              <a:buNone/>
              <a:defRPr sz="1650" b="0">
                <a:solidFill>
                  <a:srgbClr val="536760"/>
                </a:solidFill>
              </a:defRPr>
            </a:lvl3pPr>
            <a:lvl4pPr algn="l">
              <a:buNone/>
              <a:defRPr sz="1650" b="0">
                <a:solidFill>
                  <a:srgbClr val="536760"/>
                </a:solidFill>
              </a:defRPr>
            </a:lvl4pPr>
            <a:lvl5pPr algn="l">
              <a:buNone/>
              <a:defRPr sz="1650" b="0">
                <a:solidFill>
                  <a:srgbClr val="536760"/>
                </a:solidFill>
              </a:defRPr>
            </a:lvl5pPr>
            <a:lvl6pPr algn="l">
              <a:buNone/>
              <a:defRPr sz="1650" b="0">
                <a:solidFill>
                  <a:srgbClr val="536760"/>
                </a:solidFill>
              </a:defRPr>
            </a:lvl6pPr>
            <a:lvl7pPr algn="l">
              <a:buNone/>
              <a:defRPr sz="1650" b="0">
                <a:solidFill>
                  <a:srgbClr val="536760"/>
                </a:solidFill>
              </a:defRPr>
            </a:lvl7pPr>
            <a:lvl8pPr algn="l">
              <a:buNone/>
              <a:defRPr sz="1650" b="0">
                <a:solidFill>
                  <a:srgbClr val="536760"/>
                </a:solidFill>
              </a:defRPr>
            </a:lvl8pPr>
            <a:lvl9pPr algn="l">
              <a:buNone/>
              <a:defRPr sz="165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650" b="0">
                <a:solidFill>
                  <a:srgbClr val="536760"/>
                </a:solidFill>
              </a:defRPr>
            </a:pPr>
            <a:r>
              <a:rPr sz="165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6"/>
              </a:rPr>
              <a:t>指導講師：簡志璁 Alvin　fcaibialvin@gmail.com</a:t>
            </a:r>
            <a:endParaRPr sz="165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6"/>
            </a:endParaRPr>
          </a:p>
        </p:txBody>
      </p:sp>
      <p:sp>
        <p:nvSpPr>
          <p:cNvPr id="14" name="2026.10.18"/>
          <p:cNvSpPr>
            <a:spLocks noGrp="1"/>
          </p:cNvSpPr>
          <p:nvPr/>
        </p:nvSpPr>
        <p:spPr>
          <a:xfrm>
            <a:off x="657225" y="45720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536760"/>
                </a:solidFill>
              </a:defRPr>
            </a:defPPr>
            <a:lvl1pPr algn="l">
              <a:buNone/>
              <a:defRPr sz="1425" b="0">
                <a:solidFill>
                  <a:srgbClr val="536760"/>
                </a:solidFill>
              </a:defRPr>
            </a:lvl1pPr>
            <a:lvl2pPr algn="l">
              <a:buNone/>
              <a:defRPr sz="1425" b="0">
                <a:solidFill>
                  <a:srgbClr val="536760"/>
                </a:solidFill>
              </a:defRPr>
            </a:lvl2pPr>
            <a:lvl3pPr algn="l">
              <a:buNone/>
              <a:defRPr sz="1425" b="0">
                <a:solidFill>
                  <a:srgbClr val="536760"/>
                </a:solidFill>
              </a:defRPr>
            </a:lvl3pPr>
            <a:lvl4pPr algn="l">
              <a:buNone/>
              <a:defRPr sz="1425" b="0">
                <a:solidFill>
                  <a:srgbClr val="536760"/>
                </a:solidFill>
              </a:defRPr>
            </a:lvl4pPr>
            <a:lvl5pPr algn="l">
              <a:buNone/>
              <a:defRPr sz="1425" b="0">
                <a:solidFill>
                  <a:srgbClr val="536760"/>
                </a:solidFill>
              </a:defRPr>
            </a:lvl5pPr>
            <a:lvl6pPr algn="l">
              <a:buNone/>
              <a:defRPr sz="1425" b="0">
                <a:solidFill>
                  <a:srgbClr val="536760"/>
                </a:solidFill>
              </a:defRPr>
            </a:lvl6pPr>
            <a:lvl7pPr algn="l">
              <a:buNone/>
              <a:defRPr sz="1425" b="0">
                <a:solidFill>
                  <a:srgbClr val="536760"/>
                </a:solidFill>
              </a:defRPr>
            </a:lvl7pPr>
            <a:lvl8pPr algn="l">
              <a:buNone/>
              <a:defRPr sz="1425" b="0">
                <a:solidFill>
                  <a:srgbClr val="536760"/>
                </a:solidFill>
              </a:defRPr>
            </a:lvl8pPr>
            <a:lvl9pPr algn="l">
              <a:buNone/>
              <a:defRPr sz="142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425" b="0">
                <a:solidFill>
                  <a:srgbClr val="536760"/>
                </a:solidFill>
              </a:defRPr>
            </a:pPr>
            <a:r>
              <a:rPr sz="1425" b="0">
                <a:solidFill>
                  <a:srgbClr val="536760"/>
                </a:solidFill>
              </a:rPr>
              <a:t>2026.10.18</a:t>
            </a:r>
            <a:endParaRPr sz="1425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超市網購的使用情境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超市網購的使用情境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同一份商品與訂單資料，服務消費者與營運人員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同一份商品與訂單資料，服務消費者與營運人員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2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02</a:t>
            </a:r>
            <a:endParaRPr sz="1350" b="1">
              <a:solidFill>
                <a:srgbClr val="14634B"/>
              </a:solidFill>
            </a:endParaRPr>
          </a:p>
        </p:txBody>
      </p:sp>
      <p:sp>
        <p:nvSpPr>
          <p:cNvPr id="5" name="消費者"/>
          <p:cNvSpPr>
            <a:spLocks noGrp="1"/>
          </p:cNvSpPr>
          <p:nvPr/>
        </p:nvSpPr>
        <p:spPr>
          <a:xfrm>
            <a:off x="619125" y="2057400"/>
            <a:ext cx="4095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550" b="1">
                <a:solidFill>
                  <a:srgbClr val="14634B"/>
                </a:solidFill>
              </a:defRPr>
            </a:defPPr>
            <a:lvl1pPr algn="l">
              <a:buNone/>
              <a:defRPr sz="2550" b="1">
                <a:solidFill>
                  <a:srgbClr val="14634B"/>
                </a:solidFill>
              </a:defRPr>
            </a:lvl1pPr>
            <a:lvl2pPr algn="l">
              <a:buNone/>
              <a:defRPr sz="2550" b="1">
                <a:solidFill>
                  <a:srgbClr val="14634B"/>
                </a:solidFill>
              </a:defRPr>
            </a:lvl2pPr>
            <a:lvl3pPr algn="l">
              <a:buNone/>
              <a:defRPr sz="2550" b="1">
                <a:solidFill>
                  <a:srgbClr val="14634B"/>
                </a:solidFill>
              </a:defRPr>
            </a:lvl3pPr>
            <a:lvl4pPr algn="l">
              <a:buNone/>
              <a:defRPr sz="2550" b="1">
                <a:solidFill>
                  <a:srgbClr val="14634B"/>
                </a:solidFill>
              </a:defRPr>
            </a:lvl4pPr>
            <a:lvl5pPr algn="l">
              <a:buNone/>
              <a:defRPr sz="2550" b="1">
                <a:solidFill>
                  <a:srgbClr val="14634B"/>
                </a:solidFill>
              </a:defRPr>
            </a:lvl5pPr>
            <a:lvl6pPr algn="l">
              <a:buNone/>
              <a:defRPr sz="2550" b="1">
                <a:solidFill>
                  <a:srgbClr val="14634B"/>
                </a:solidFill>
              </a:defRPr>
            </a:lvl6pPr>
            <a:lvl7pPr algn="l">
              <a:buNone/>
              <a:defRPr sz="2550" b="1">
                <a:solidFill>
                  <a:srgbClr val="14634B"/>
                </a:solidFill>
              </a:defRPr>
            </a:lvl7pPr>
            <a:lvl8pPr algn="l">
              <a:buNone/>
              <a:defRPr sz="2550" b="1">
                <a:solidFill>
                  <a:srgbClr val="14634B"/>
                </a:solidFill>
              </a:defRPr>
            </a:lvl8pPr>
            <a:lvl9pPr algn="l">
              <a:buNone/>
              <a:defRPr sz="25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550" b="1">
                <a:solidFill>
                  <a:srgbClr val="14634B"/>
                </a:solidFill>
              </a:defRPr>
            </a:pPr>
            <a:r>
              <a:rPr sz="2550" b="1">
                <a:solidFill>
                  <a:srgbClr val="14634B"/>
                </a:solidFill>
              </a:rPr>
              <a:t>消費者</a:t>
            </a:r>
            <a:endParaRPr sz="2550" b="1">
              <a:solidFill>
                <a:srgbClr val="14634B"/>
              </a:solidFill>
            </a:endParaRPr>
          </a:p>
        </p:txBody>
      </p:sp>
      <p:sp>
        <p:nvSpPr>
          <p:cNvPr id="6" name="分類與關鍵字搜尋&#10;確認商品規格、價格及庫存&#10;登入後管"/>
          <p:cNvSpPr>
            <a:spLocks noGrp="1"/>
          </p:cNvSpPr>
          <p:nvPr/>
        </p:nvSpPr>
        <p:spPr>
          <a:xfrm>
            <a:off x="619125" y="2657475"/>
            <a:ext cx="4143375" cy="1476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分類與關鍵字搜尋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確認商品規格、價格及庫存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登入後管理購物車與示範訂單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7" name="營運人員"/>
          <p:cNvSpPr>
            <a:spLocks noGrp="1"/>
          </p:cNvSpPr>
          <p:nvPr/>
        </p:nvSpPr>
        <p:spPr>
          <a:xfrm>
            <a:off x="619125" y="4324350"/>
            <a:ext cx="4095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550" b="1">
                <a:solidFill>
                  <a:srgbClr val="14634B"/>
                </a:solidFill>
              </a:defRPr>
            </a:defPPr>
            <a:lvl1pPr algn="l">
              <a:buNone/>
              <a:defRPr sz="2550" b="1">
                <a:solidFill>
                  <a:srgbClr val="14634B"/>
                </a:solidFill>
              </a:defRPr>
            </a:lvl1pPr>
            <a:lvl2pPr algn="l">
              <a:buNone/>
              <a:defRPr sz="2550" b="1">
                <a:solidFill>
                  <a:srgbClr val="14634B"/>
                </a:solidFill>
              </a:defRPr>
            </a:lvl2pPr>
            <a:lvl3pPr algn="l">
              <a:buNone/>
              <a:defRPr sz="2550" b="1">
                <a:solidFill>
                  <a:srgbClr val="14634B"/>
                </a:solidFill>
              </a:defRPr>
            </a:lvl3pPr>
            <a:lvl4pPr algn="l">
              <a:buNone/>
              <a:defRPr sz="2550" b="1">
                <a:solidFill>
                  <a:srgbClr val="14634B"/>
                </a:solidFill>
              </a:defRPr>
            </a:lvl4pPr>
            <a:lvl5pPr algn="l">
              <a:buNone/>
              <a:defRPr sz="2550" b="1">
                <a:solidFill>
                  <a:srgbClr val="14634B"/>
                </a:solidFill>
              </a:defRPr>
            </a:lvl5pPr>
            <a:lvl6pPr algn="l">
              <a:buNone/>
              <a:defRPr sz="2550" b="1">
                <a:solidFill>
                  <a:srgbClr val="14634B"/>
                </a:solidFill>
              </a:defRPr>
            </a:lvl6pPr>
            <a:lvl7pPr algn="l">
              <a:buNone/>
              <a:defRPr sz="2550" b="1">
                <a:solidFill>
                  <a:srgbClr val="14634B"/>
                </a:solidFill>
              </a:defRPr>
            </a:lvl7pPr>
            <a:lvl8pPr algn="l">
              <a:buNone/>
              <a:defRPr sz="2550" b="1">
                <a:solidFill>
                  <a:srgbClr val="14634B"/>
                </a:solidFill>
              </a:defRPr>
            </a:lvl8pPr>
            <a:lvl9pPr algn="l">
              <a:buNone/>
              <a:defRPr sz="25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550" b="1">
                <a:solidFill>
                  <a:srgbClr val="14634B"/>
                </a:solidFill>
              </a:defRPr>
            </a:pPr>
            <a:r>
              <a:rPr sz="2550" b="1">
                <a:solidFill>
                  <a:srgbClr val="14634B"/>
                </a:solidFill>
              </a:rPr>
              <a:t>營運人員</a:t>
            </a:r>
            <a:endParaRPr sz="2550" b="1">
              <a:solidFill>
                <a:srgbClr val="14634B"/>
              </a:solidFill>
            </a:endParaRPr>
          </a:p>
        </p:txBody>
      </p:sp>
      <p:sp>
        <p:nvSpPr>
          <p:cNvPr id="8" name="核對期間營收與熱銷&#10;查看低庫存與推薦理由"/>
          <p:cNvSpPr>
            <a:spLocks noGrp="1"/>
          </p:cNvSpPr>
          <p:nvPr/>
        </p:nvSpPr>
        <p:spPr>
          <a:xfrm>
            <a:off x="619125" y="4924425"/>
            <a:ext cx="4143375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核對期間營收與熱銷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查看低庫存與推薦理由</a:t>
            </a:r>
            <a:endParaRPr sz="2025" b="0">
              <a:solidFill>
                <a:srgbClr val="17342E"/>
              </a:solidFill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4633" y="1895475"/>
            <a:ext cx="6067109" cy="4000500"/>
          </a:xfrm>
          <a:prstGeom prst="rect">
            <a:avLst/>
          </a:prstGeom>
        </p:spPr>
      </p:pic>
      <p:sp>
        <p:nvSpPr>
          <p:cNvPr id="10" name="商品介面實拍：10/18 零流量預覽"/>
          <p:cNvSpPr>
            <a:spLocks noGrp="1"/>
          </p:cNvSpPr>
          <p:nvPr/>
        </p:nvSpPr>
        <p:spPr>
          <a:xfrm>
            <a:off x="5162550" y="5962650"/>
            <a:ext cx="6381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536760"/>
                </a:solidFill>
              </a:defRPr>
            </a:defPPr>
            <a:lvl1pPr algn="l">
              <a:buNone/>
              <a:defRPr sz="1350" b="0">
                <a:solidFill>
                  <a:srgbClr val="536760"/>
                </a:solidFill>
              </a:defRPr>
            </a:lvl1pPr>
            <a:lvl2pPr algn="l">
              <a:buNone/>
              <a:defRPr sz="1350" b="0">
                <a:solidFill>
                  <a:srgbClr val="536760"/>
                </a:solidFill>
              </a:defRPr>
            </a:lvl2pPr>
            <a:lvl3pPr algn="l">
              <a:buNone/>
              <a:defRPr sz="1350" b="0">
                <a:solidFill>
                  <a:srgbClr val="536760"/>
                </a:solidFill>
              </a:defRPr>
            </a:lvl3pPr>
            <a:lvl4pPr algn="l">
              <a:buNone/>
              <a:defRPr sz="1350" b="0">
                <a:solidFill>
                  <a:srgbClr val="536760"/>
                </a:solidFill>
              </a:defRPr>
            </a:lvl4pPr>
            <a:lvl5pPr algn="l">
              <a:buNone/>
              <a:defRPr sz="1350" b="0">
                <a:solidFill>
                  <a:srgbClr val="536760"/>
                </a:solidFill>
              </a:defRPr>
            </a:lvl5pPr>
            <a:lvl6pPr algn="l">
              <a:buNone/>
              <a:defRPr sz="1350" b="0">
                <a:solidFill>
                  <a:srgbClr val="536760"/>
                </a:solidFill>
              </a:defRPr>
            </a:lvl6pPr>
            <a:lvl7pPr algn="l">
              <a:buNone/>
              <a:defRPr sz="1350" b="0">
                <a:solidFill>
                  <a:srgbClr val="536760"/>
                </a:solidFill>
              </a:defRPr>
            </a:lvl7pPr>
            <a:lvl8pPr algn="l">
              <a:buNone/>
              <a:defRPr sz="1350" b="0">
                <a:solidFill>
                  <a:srgbClr val="536760"/>
                </a:solidFill>
              </a:defRPr>
            </a:lvl8pPr>
            <a:lvl9pPr algn="l">
              <a:buNone/>
              <a:defRPr sz="135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536760"/>
                </a:solidFill>
              </a:defRPr>
            </a:pPr>
            <a:r>
              <a:rPr sz="1350" b="0">
                <a:solidFill>
                  <a:srgbClr val="536760"/>
                </a:solidFill>
              </a:rPr>
              <a:t>商品介面實拍：10/18 零流量預覽</a:t>
            </a:r>
            <a:endParaRPr sz="1350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D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8" name="直接箭頭連接符 17"/>
          <p:cNvCxnSpPr>
            <a:stCxn id="9" idx="2"/>
            <a:endCxn id="10" idx="0"/>
          </p:cNvCxnSpPr>
          <p:nvPr/>
        </p:nvCxnSpPr>
        <p:spPr>
          <a:xfrm>
            <a:off x="7334250" y="4448175"/>
            <a:ext cx="0" cy="409575"/>
          </a:xfrm>
          <a:prstGeom prst="straightConnector1">
            <a:avLst/>
          </a:prstGeom>
          <a:ln w="19050">
            <a:solidFill>
              <a:srgbClr val="38C5CD"/>
            </a:solidFill>
            <a:prstDash val="dash"/>
            <a:tailEnd type="triangle" w="sm" len="sm"/>
          </a:ln>
        </p:spPr>
      </p:cxnSp>
      <p:cxnSp>
        <p:nvCxnSpPr>
          <p:cNvPr id="17" name="肘形連接符 16"/>
          <p:cNvCxnSpPr>
            <a:stCxn id="9" idx="3"/>
            <a:endCxn id="11" idx="1"/>
          </p:cNvCxnSpPr>
          <p:nvPr/>
        </p:nvCxnSpPr>
        <p:spPr>
          <a:xfrm flipV="1">
            <a:off x="8572500" y="3362325"/>
            <a:ext cx="638175" cy="766763"/>
          </a:xfrm>
          <a:prstGeom prst="bentConnector3">
            <a:avLst>
              <a:gd name="adj1" fmla="val 50000"/>
            </a:avLst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6" name="肘形連接符 15"/>
          <p:cNvCxnSpPr>
            <a:stCxn id="8" idx="3"/>
            <a:endCxn id="11" idx="1"/>
          </p:cNvCxnSpPr>
          <p:nvPr/>
        </p:nvCxnSpPr>
        <p:spPr>
          <a:xfrm>
            <a:off x="8572500" y="3176588"/>
            <a:ext cx="638175" cy="185738"/>
          </a:xfrm>
          <a:prstGeom prst="bentConnector3">
            <a:avLst>
              <a:gd name="adj1" fmla="val 50000"/>
            </a:avLst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5" name="肘形連接符 14"/>
          <p:cNvCxnSpPr>
            <a:stCxn id="6" idx="3"/>
            <a:endCxn id="9" idx="1"/>
          </p:cNvCxnSpPr>
          <p:nvPr/>
        </p:nvCxnSpPr>
        <p:spPr>
          <a:xfrm>
            <a:off x="5524500" y="3362325"/>
            <a:ext cx="571500" cy="766763"/>
          </a:xfrm>
          <a:prstGeom prst="bentConnector3">
            <a:avLst>
              <a:gd name="adj1" fmla="val 50000"/>
            </a:avLst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4" name="肘形連接符 13"/>
          <p:cNvCxnSpPr>
            <a:stCxn id="6" idx="3"/>
            <a:endCxn id="8" idx="1"/>
          </p:cNvCxnSpPr>
          <p:nvPr/>
        </p:nvCxnSpPr>
        <p:spPr>
          <a:xfrm flipV="1">
            <a:off x="5524500" y="3176588"/>
            <a:ext cx="571500" cy="185738"/>
          </a:xfrm>
          <a:prstGeom prst="bentConnector3">
            <a:avLst>
              <a:gd name="adj1" fmla="val 50000"/>
            </a:avLst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3" name="肘形連接符 12"/>
          <p:cNvCxnSpPr>
            <a:stCxn id="6" idx="3"/>
            <a:endCxn id="7" idx="1"/>
          </p:cNvCxnSpPr>
          <p:nvPr/>
        </p:nvCxnSpPr>
        <p:spPr>
          <a:xfrm flipV="1">
            <a:off x="5524500" y="2224088"/>
            <a:ext cx="571500" cy="1138238"/>
          </a:xfrm>
          <a:prstGeom prst="bentConnector3">
            <a:avLst>
              <a:gd name="adj1" fmla="val 50000"/>
            </a:avLst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2" name="直接箭頭連接符 11"/>
          <p:cNvCxnSpPr>
            <a:stCxn id="5" idx="3"/>
            <a:endCxn id="6" idx="1"/>
          </p:cNvCxnSpPr>
          <p:nvPr/>
        </p:nvCxnSpPr>
        <p:spPr>
          <a:xfrm>
            <a:off x="2857500" y="3362325"/>
            <a:ext cx="476250" cy="0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sp>
        <p:nvSpPr>
          <p:cNvPr id="20" name="系統架構與資料流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FFFFFF"/>
                </a:solidFill>
              </a:defRPr>
            </a:defPPr>
            <a:lvl1pPr algn="l">
              <a:buNone/>
              <a:defRPr sz="3300" b="1">
                <a:solidFill>
                  <a:srgbClr val="FFFFFF"/>
                </a:solidFill>
              </a:defRPr>
            </a:lvl1pPr>
            <a:lvl2pPr algn="l">
              <a:buNone/>
              <a:defRPr sz="3300" b="1">
                <a:solidFill>
                  <a:srgbClr val="FFFFFF"/>
                </a:solidFill>
              </a:defRPr>
            </a:lvl2pPr>
            <a:lvl3pPr algn="l">
              <a:buNone/>
              <a:defRPr sz="3300" b="1">
                <a:solidFill>
                  <a:srgbClr val="FFFFFF"/>
                </a:solidFill>
              </a:defRPr>
            </a:lvl3pPr>
            <a:lvl4pPr algn="l">
              <a:buNone/>
              <a:defRPr sz="3300" b="1">
                <a:solidFill>
                  <a:srgbClr val="FFFFFF"/>
                </a:solidFill>
              </a:defRPr>
            </a:lvl4pPr>
            <a:lvl5pPr algn="l">
              <a:buNone/>
              <a:defRPr sz="3300" b="1">
                <a:solidFill>
                  <a:srgbClr val="FFFFFF"/>
                </a:solidFill>
              </a:defRPr>
            </a:lvl5pPr>
            <a:lvl6pPr algn="l">
              <a:buNone/>
              <a:defRPr sz="3300" b="1">
                <a:solidFill>
                  <a:srgbClr val="FFFFFF"/>
                </a:solidFill>
              </a:defRPr>
            </a:lvl6pPr>
            <a:lvl7pPr algn="l">
              <a:buNone/>
              <a:defRPr sz="3300" b="1">
                <a:solidFill>
                  <a:srgbClr val="FFFFFF"/>
                </a:solidFill>
              </a:defRPr>
            </a:lvl7pPr>
            <a:lvl8pPr algn="l">
              <a:buNone/>
              <a:defRPr sz="3300" b="1">
                <a:solidFill>
                  <a:srgbClr val="FFFFFF"/>
                </a:solidFill>
              </a:defRPr>
            </a:lvl8pPr>
            <a:lvl9pPr algn="l">
              <a:buNone/>
              <a:defRPr sz="3300" b="1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系統架構與資料流</a:t>
            </a:r>
            <a:endParaRPr sz="3300" b="1">
              <a:solidFill>
                <a:srgbClr val="FFFFFF"/>
              </a:solidFill>
            </a:endParaRPr>
          </a:p>
        </p:txBody>
      </p:sp>
      <p:sp>
        <p:nvSpPr>
          <p:cNvPr id="2" name="前後台共用 SKU 與資料服務，AI 依配置執行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B8DCD4"/>
                </a:solidFill>
              </a:defRPr>
            </a:defPPr>
            <a:lvl1pPr algn="l">
              <a:buNone/>
              <a:defRPr sz="1800" b="0">
                <a:solidFill>
                  <a:srgbClr val="B8DCD4"/>
                </a:solidFill>
              </a:defRPr>
            </a:lvl1pPr>
            <a:lvl2pPr algn="l">
              <a:buNone/>
              <a:defRPr sz="1800" b="0">
                <a:solidFill>
                  <a:srgbClr val="B8DCD4"/>
                </a:solidFill>
              </a:defRPr>
            </a:lvl2pPr>
            <a:lvl3pPr algn="l">
              <a:buNone/>
              <a:defRPr sz="1800" b="0">
                <a:solidFill>
                  <a:srgbClr val="B8DCD4"/>
                </a:solidFill>
              </a:defRPr>
            </a:lvl3pPr>
            <a:lvl4pPr algn="l">
              <a:buNone/>
              <a:defRPr sz="1800" b="0">
                <a:solidFill>
                  <a:srgbClr val="B8DCD4"/>
                </a:solidFill>
              </a:defRPr>
            </a:lvl4pPr>
            <a:lvl5pPr algn="l">
              <a:buNone/>
              <a:defRPr sz="1800" b="0">
                <a:solidFill>
                  <a:srgbClr val="B8DCD4"/>
                </a:solidFill>
              </a:defRPr>
            </a:lvl5pPr>
            <a:lvl6pPr algn="l">
              <a:buNone/>
              <a:defRPr sz="1800" b="0">
                <a:solidFill>
                  <a:srgbClr val="B8DCD4"/>
                </a:solidFill>
              </a:defRPr>
            </a:lvl6pPr>
            <a:lvl7pPr algn="l">
              <a:buNone/>
              <a:defRPr sz="1800" b="0">
                <a:solidFill>
                  <a:srgbClr val="B8DCD4"/>
                </a:solidFill>
              </a:defRPr>
            </a:lvl7pPr>
            <a:lvl8pPr algn="l">
              <a:buNone/>
              <a:defRPr sz="1800" b="0">
                <a:solidFill>
                  <a:srgbClr val="B8DCD4"/>
                </a:solidFill>
              </a:defRPr>
            </a:lvl8pPr>
            <a:lvl9pPr algn="l">
              <a:buNone/>
              <a:defRPr sz="1800" b="0">
                <a:solidFill>
                  <a:srgbClr val="B8DCD4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B8DCD4"/>
                </a:solidFill>
              </a:defRPr>
            </a:pPr>
            <a:r>
              <a:rPr sz="1800" b="0">
                <a:solidFill>
                  <a:srgbClr val="B8DCD4"/>
                </a:solidFill>
              </a:rPr>
              <a:t>前後台共用 SKU 與資料服務，AI 依配置執行</a:t>
            </a:r>
            <a:endParaRPr sz="1800" b="0">
              <a:solidFill>
                <a:srgbClr val="B8DCD4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CD9D0"/>
                </a:solidFill>
              </a:defRPr>
            </a:defPPr>
            <a:lvl1pPr algn="l">
              <a:buNone/>
              <a:defRPr sz="1200" b="0">
                <a:solidFill>
                  <a:srgbClr val="BCD9D0"/>
                </a:solidFill>
              </a:defRPr>
            </a:lvl1pPr>
            <a:lvl2pPr algn="l">
              <a:buNone/>
              <a:defRPr sz="1200" b="0">
                <a:solidFill>
                  <a:srgbClr val="BCD9D0"/>
                </a:solidFill>
              </a:defRPr>
            </a:lvl2pPr>
            <a:lvl3pPr algn="l">
              <a:buNone/>
              <a:defRPr sz="1200" b="0">
                <a:solidFill>
                  <a:srgbClr val="BCD9D0"/>
                </a:solidFill>
              </a:defRPr>
            </a:lvl3pPr>
            <a:lvl4pPr algn="l">
              <a:buNone/>
              <a:defRPr sz="1200" b="0">
                <a:solidFill>
                  <a:srgbClr val="BCD9D0"/>
                </a:solidFill>
              </a:defRPr>
            </a:lvl4pPr>
            <a:lvl5pPr algn="l">
              <a:buNone/>
              <a:defRPr sz="1200" b="0">
                <a:solidFill>
                  <a:srgbClr val="BCD9D0"/>
                </a:solidFill>
              </a:defRPr>
            </a:lvl5pPr>
            <a:lvl6pPr algn="l">
              <a:buNone/>
              <a:defRPr sz="1200" b="0">
                <a:solidFill>
                  <a:srgbClr val="BCD9D0"/>
                </a:solidFill>
              </a:defRPr>
            </a:lvl6pPr>
            <a:lvl7pPr algn="l">
              <a:buNone/>
              <a:defRPr sz="1200" b="0">
                <a:solidFill>
                  <a:srgbClr val="BCD9D0"/>
                </a:solidFill>
              </a:defRPr>
            </a:lvl7pPr>
            <a:lvl8pPr algn="l">
              <a:buNone/>
              <a:defRPr sz="1200" b="0">
                <a:solidFill>
                  <a:srgbClr val="BCD9D0"/>
                </a:solidFill>
              </a:defRPr>
            </a:lvl8pPr>
            <a:lvl9pPr algn="l">
              <a:buNone/>
              <a:defRPr sz="1200" b="0">
                <a:solidFill>
                  <a:srgbClr val="BCD9D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BCD9D0"/>
                </a:solidFill>
              </a:defRPr>
            </a:pPr>
            <a:r>
              <a:rPr sz="1200" b="0">
                <a:solidFill>
                  <a:srgbClr val="BCD9D0"/>
                </a:solidFill>
              </a:rPr>
              <a:t>VibeCart AI</a:t>
            </a:r>
            <a:endParaRPr sz="1200" b="0">
              <a:solidFill>
                <a:srgbClr val="BCD9D0"/>
              </a:solidFill>
            </a:endParaRPr>
          </a:p>
        </p:txBody>
      </p:sp>
      <p:sp>
        <p:nvSpPr>
          <p:cNvPr id="4" name="03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38C5CD"/>
                </a:solidFill>
              </a:defRPr>
            </a:defPPr>
            <a:lvl1pPr algn="l">
              <a:buNone/>
              <a:defRPr sz="1350" b="1">
                <a:solidFill>
                  <a:srgbClr val="38C5CD"/>
                </a:solidFill>
              </a:defRPr>
            </a:lvl1pPr>
            <a:lvl2pPr algn="l">
              <a:buNone/>
              <a:defRPr sz="1350" b="1">
                <a:solidFill>
                  <a:srgbClr val="38C5CD"/>
                </a:solidFill>
              </a:defRPr>
            </a:lvl2pPr>
            <a:lvl3pPr algn="l">
              <a:buNone/>
              <a:defRPr sz="1350" b="1">
                <a:solidFill>
                  <a:srgbClr val="38C5CD"/>
                </a:solidFill>
              </a:defRPr>
            </a:lvl3pPr>
            <a:lvl4pPr algn="l">
              <a:buNone/>
              <a:defRPr sz="1350" b="1">
                <a:solidFill>
                  <a:srgbClr val="38C5CD"/>
                </a:solidFill>
              </a:defRPr>
            </a:lvl4pPr>
            <a:lvl5pPr algn="l">
              <a:buNone/>
              <a:defRPr sz="1350" b="1">
                <a:solidFill>
                  <a:srgbClr val="38C5CD"/>
                </a:solidFill>
              </a:defRPr>
            </a:lvl5pPr>
            <a:lvl6pPr algn="l">
              <a:buNone/>
              <a:defRPr sz="1350" b="1">
                <a:solidFill>
                  <a:srgbClr val="38C5CD"/>
                </a:solidFill>
              </a:defRPr>
            </a:lvl6pPr>
            <a:lvl7pPr algn="l">
              <a:buNone/>
              <a:defRPr sz="1350" b="1">
                <a:solidFill>
                  <a:srgbClr val="38C5CD"/>
                </a:solidFill>
              </a:defRPr>
            </a:lvl7pPr>
            <a:lvl8pPr algn="l">
              <a:buNone/>
              <a:defRPr sz="1350" b="1">
                <a:solidFill>
                  <a:srgbClr val="38C5CD"/>
                </a:solidFill>
              </a:defRPr>
            </a:lvl8pPr>
            <a:lvl9pPr algn="l">
              <a:buNone/>
              <a:defRPr sz="1350" b="1">
                <a:solidFill>
                  <a:srgbClr val="38C5CD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38C5CD"/>
                </a:solidFill>
              </a:defRPr>
            </a:pPr>
            <a:r>
              <a:rPr sz="1350" b="1">
                <a:solidFill>
                  <a:srgbClr val="38C5CD"/>
                </a:solidFill>
              </a:rPr>
              <a:t>03</a:t>
            </a:r>
            <a:endParaRPr sz="1350" b="1">
              <a:solidFill>
                <a:srgbClr val="38C5CD"/>
              </a:solidFill>
            </a:endParaRPr>
          </a:p>
        </p:txBody>
      </p:sp>
      <p:sp>
        <p:nvSpPr>
          <p:cNvPr id="5" name="瀏覽器&#10;VibeCart / VibeInsight"/>
          <p:cNvSpPr>
            <a:spLocks noGrp="1"/>
          </p:cNvSpPr>
          <p:nvPr/>
        </p:nvSpPr>
        <p:spPr>
          <a:xfrm>
            <a:off x="609600" y="2857500"/>
            <a:ext cx="2247900" cy="10096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瀏覽器</a:t>
            </a:r>
            <a:endParaRPr sz="1800" b="1">
              <a:solidFill>
                <a:srgbClr val="FFFFFF"/>
              </a:solidFill>
            </a:endParaRPr>
          </a:p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VibeCart / VibeInsight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6" name="Flask / Jinja2&#10;路由與畫面"/>
          <p:cNvSpPr>
            <a:spLocks noGrp="1"/>
          </p:cNvSpPr>
          <p:nvPr/>
        </p:nvSpPr>
        <p:spPr>
          <a:xfrm>
            <a:off x="3333750" y="2857500"/>
            <a:ext cx="2190750" cy="10096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Flask / Jinja2</a:t>
            </a:r>
            <a:endParaRPr sz="1800" b="1">
              <a:solidFill>
                <a:srgbClr val="FFFFFF"/>
              </a:solidFill>
            </a:endParaRPr>
          </a:p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路由與畫面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7" name="會員與角色 / CSRF"/>
          <p:cNvSpPr>
            <a:spLocks noGrp="1"/>
          </p:cNvSpPr>
          <p:nvPr/>
        </p:nvSpPr>
        <p:spPr>
          <a:xfrm>
            <a:off x="6096000" y="1905000"/>
            <a:ext cx="2476500" cy="638175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會員與角色 / CSRF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8" name="SKU / 購物車 / 訂單"/>
          <p:cNvSpPr>
            <a:spLocks noGrp="1"/>
          </p:cNvSpPr>
          <p:nvPr/>
        </p:nvSpPr>
        <p:spPr>
          <a:xfrm>
            <a:off x="6096000" y="2857500"/>
            <a:ext cx="2476500" cy="638175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SKU / 購物車 / 訂單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9" name="營運統計 / 推薦服務"/>
          <p:cNvSpPr>
            <a:spLocks noGrp="1"/>
          </p:cNvSpPr>
          <p:nvPr/>
        </p:nvSpPr>
        <p:spPr>
          <a:xfrm>
            <a:off x="6096000" y="3810000"/>
            <a:ext cx="2476500" cy="638175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營運統計 / 推薦服務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0" name="LangGraph&#10;BGE / Claude / 規則"/>
          <p:cNvSpPr>
            <a:spLocks noGrp="1"/>
          </p:cNvSpPr>
          <p:nvPr/>
        </p:nvSpPr>
        <p:spPr>
          <a:xfrm>
            <a:off x="6096000" y="4857750"/>
            <a:ext cx="2476500" cy="828675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LangGraph</a:t>
            </a:r>
            <a:endParaRPr sz="1800" b="1">
              <a:solidFill>
                <a:srgbClr val="FFFFFF"/>
              </a:solidFill>
            </a:endParaRPr>
          </a:p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BGE / Claude / 規則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MongoDB Atlas&#10;Complete Schema v4"/>
          <p:cNvSpPr>
            <a:spLocks noGrp="1"/>
          </p:cNvSpPr>
          <p:nvPr/>
        </p:nvSpPr>
        <p:spPr>
          <a:xfrm>
            <a:off x="9210675" y="2857500"/>
            <a:ext cx="2381250" cy="10096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MongoDB Atlas</a:t>
            </a:r>
            <a:endParaRPr sz="1800" b="1">
              <a:solidFill>
                <a:srgbClr val="FFFFFF"/>
              </a:solidFill>
            </a:endParaRPr>
          </a:p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Complete Schema v4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部署：Firebase Hosting　／　Clou"/>
          <p:cNvSpPr>
            <a:spLocks noGrp="1"/>
          </p:cNvSpPr>
          <p:nvPr/>
        </p:nvSpPr>
        <p:spPr>
          <a:xfrm>
            <a:off x="619125" y="5943600"/>
            <a:ext cx="10953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725" b="0">
                <a:solidFill>
                  <a:srgbClr val="B8DCD4"/>
                </a:solidFill>
              </a:defRPr>
            </a:defPPr>
            <a:lvl1pPr algn="l">
              <a:buNone/>
              <a:defRPr sz="1725" b="0">
                <a:solidFill>
                  <a:srgbClr val="B8DCD4"/>
                </a:solidFill>
              </a:defRPr>
            </a:lvl1pPr>
            <a:lvl2pPr algn="l">
              <a:buNone/>
              <a:defRPr sz="1725" b="0">
                <a:solidFill>
                  <a:srgbClr val="B8DCD4"/>
                </a:solidFill>
              </a:defRPr>
            </a:lvl2pPr>
            <a:lvl3pPr algn="l">
              <a:buNone/>
              <a:defRPr sz="1725" b="0">
                <a:solidFill>
                  <a:srgbClr val="B8DCD4"/>
                </a:solidFill>
              </a:defRPr>
            </a:lvl3pPr>
            <a:lvl4pPr algn="l">
              <a:buNone/>
              <a:defRPr sz="1725" b="0">
                <a:solidFill>
                  <a:srgbClr val="B8DCD4"/>
                </a:solidFill>
              </a:defRPr>
            </a:lvl4pPr>
            <a:lvl5pPr algn="l">
              <a:buNone/>
              <a:defRPr sz="1725" b="0">
                <a:solidFill>
                  <a:srgbClr val="B8DCD4"/>
                </a:solidFill>
              </a:defRPr>
            </a:lvl5pPr>
            <a:lvl6pPr algn="l">
              <a:buNone/>
              <a:defRPr sz="1725" b="0">
                <a:solidFill>
                  <a:srgbClr val="B8DCD4"/>
                </a:solidFill>
              </a:defRPr>
            </a:lvl6pPr>
            <a:lvl7pPr algn="l">
              <a:buNone/>
              <a:defRPr sz="1725" b="0">
                <a:solidFill>
                  <a:srgbClr val="B8DCD4"/>
                </a:solidFill>
              </a:defRPr>
            </a:lvl7pPr>
            <a:lvl8pPr algn="l">
              <a:buNone/>
              <a:defRPr sz="1725" b="0">
                <a:solidFill>
                  <a:srgbClr val="B8DCD4"/>
                </a:solidFill>
              </a:defRPr>
            </a:lvl8pPr>
            <a:lvl9pPr algn="l">
              <a:buNone/>
              <a:defRPr sz="1725" b="0">
                <a:solidFill>
                  <a:srgbClr val="B8DCD4"/>
                </a:solidFill>
              </a:defRPr>
            </a:lvl9pPr>
          </a:lstStyle>
          <a:p>
            <a:pPr algn="l">
              <a:buNone/>
              <a:defRPr sz="1725" b="0">
                <a:solidFill>
                  <a:srgbClr val="B8DCD4"/>
                </a:solidFill>
              </a:defRPr>
            </a:pPr>
            <a:r>
              <a:rPr sz="1725" b="0">
                <a:solidFill>
                  <a:srgbClr val="B8DCD4"/>
                </a:solidFill>
              </a:rPr>
              <a:t>部署：Firebase Hosting　／　Cloud Run + Gunicorn　／　Secret Manager</a:t>
            </a:r>
            <a:endParaRPr sz="1725" b="0">
              <a:solidFill>
                <a:srgbClr val="B8DCD4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資料模型與測試資料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資料模型與測試資料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商品與 SKU 分離，訂單保留明細與示範標記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商品與 SKU 分離，訂單保留明細與示範標記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4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04</a:t>
            </a:r>
            <a:endParaRPr sz="1350" b="1">
              <a:solidFill>
                <a:srgbClr val="14634B"/>
              </a:solidFill>
            </a:endParaRPr>
          </a:p>
        </p:txBody>
      </p:sp>
      <p:sp>
        <p:nvSpPr>
          <p:cNvPr id="5" name="336"/>
          <p:cNvSpPr>
            <a:spLocks noGrp="1"/>
          </p:cNvSpPr>
          <p:nvPr/>
        </p:nvSpPr>
        <p:spPr>
          <a:xfrm>
            <a:off x="619125" y="1866900"/>
            <a:ext cx="328612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4650" b="1">
                <a:solidFill>
                  <a:srgbClr val="14634B"/>
                </a:solidFill>
              </a:defRPr>
            </a:defPPr>
            <a:lvl1pPr algn="l">
              <a:buNone/>
              <a:defRPr sz="4650" b="1">
                <a:solidFill>
                  <a:srgbClr val="14634B"/>
                </a:solidFill>
              </a:defRPr>
            </a:lvl1pPr>
            <a:lvl2pPr algn="l">
              <a:buNone/>
              <a:defRPr sz="4650" b="1">
                <a:solidFill>
                  <a:srgbClr val="14634B"/>
                </a:solidFill>
              </a:defRPr>
            </a:lvl2pPr>
            <a:lvl3pPr algn="l">
              <a:buNone/>
              <a:defRPr sz="4650" b="1">
                <a:solidFill>
                  <a:srgbClr val="14634B"/>
                </a:solidFill>
              </a:defRPr>
            </a:lvl3pPr>
            <a:lvl4pPr algn="l">
              <a:buNone/>
              <a:defRPr sz="4650" b="1">
                <a:solidFill>
                  <a:srgbClr val="14634B"/>
                </a:solidFill>
              </a:defRPr>
            </a:lvl4pPr>
            <a:lvl5pPr algn="l">
              <a:buNone/>
              <a:defRPr sz="4650" b="1">
                <a:solidFill>
                  <a:srgbClr val="14634B"/>
                </a:solidFill>
              </a:defRPr>
            </a:lvl5pPr>
            <a:lvl6pPr algn="l">
              <a:buNone/>
              <a:defRPr sz="4650" b="1">
                <a:solidFill>
                  <a:srgbClr val="14634B"/>
                </a:solidFill>
              </a:defRPr>
            </a:lvl6pPr>
            <a:lvl7pPr algn="l">
              <a:buNone/>
              <a:defRPr sz="4650" b="1">
                <a:solidFill>
                  <a:srgbClr val="14634B"/>
                </a:solidFill>
              </a:defRPr>
            </a:lvl7pPr>
            <a:lvl8pPr algn="l">
              <a:buNone/>
              <a:defRPr sz="4650" b="1">
                <a:solidFill>
                  <a:srgbClr val="14634B"/>
                </a:solidFill>
              </a:defRPr>
            </a:lvl8pPr>
            <a:lvl9pPr algn="l">
              <a:buNone/>
              <a:defRPr sz="46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4650" b="1">
                <a:solidFill>
                  <a:srgbClr val="14634B"/>
                </a:solidFill>
              </a:defRPr>
            </a:pPr>
            <a:r>
              <a:rPr sz="4650" b="1">
                <a:solidFill>
                  <a:srgbClr val="14634B"/>
                </a:solidFill>
              </a:rPr>
              <a:t>336</a:t>
            </a:r>
            <a:endParaRPr sz="4650" b="1">
              <a:solidFill>
                <a:srgbClr val="14634B"/>
              </a:solidFill>
            </a:endParaRPr>
          </a:p>
        </p:txBody>
      </p:sp>
      <p:sp>
        <p:nvSpPr>
          <p:cNvPr id="6" name="有效商品與 SKU"/>
          <p:cNvSpPr>
            <a:spLocks noGrp="1"/>
          </p:cNvSpPr>
          <p:nvPr/>
        </p:nvSpPr>
        <p:spPr>
          <a:xfrm>
            <a:off x="619125" y="2686050"/>
            <a:ext cx="3286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75" b="0">
                <a:solidFill>
                  <a:srgbClr val="536760"/>
                </a:solidFill>
              </a:defRPr>
            </a:defPPr>
            <a:lvl1pPr algn="l">
              <a:buNone/>
              <a:defRPr sz="1875" b="0">
                <a:solidFill>
                  <a:srgbClr val="536760"/>
                </a:solidFill>
              </a:defRPr>
            </a:lvl1pPr>
            <a:lvl2pPr algn="l">
              <a:buNone/>
              <a:defRPr sz="1875" b="0">
                <a:solidFill>
                  <a:srgbClr val="536760"/>
                </a:solidFill>
              </a:defRPr>
            </a:lvl2pPr>
            <a:lvl3pPr algn="l">
              <a:buNone/>
              <a:defRPr sz="1875" b="0">
                <a:solidFill>
                  <a:srgbClr val="536760"/>
                </a:solidFill>
              </a:defRPr>
            </a:lvl3pPr>
            <a:lvl4pPr algn="l">
              <a:buNone/>
              <a:defRPr sz="1875" b="0">
                <a:solidFill>
                  <a:srgbClr val="536760"/>
                </a:solidFill>
              </a:defRPr>
            </a:lvl4pPr>
            <a:lvl5pPr algn="l">
              <a:buNone/>
              <a:defRPr sz="1875" b="0">
                <a:solidFill>
                  <a:srgbClr val="536760"/>
                </a:solidFill>
              </a:defRPr>
            </a:lvl5pPr>
            <a:lvl6pPr algn="l">
              <a:buNone/>
              <a:defRPr sz="1875" b="0">
                <a:solidFill>
                  <a:srgbClr val="536760"/>
                </a:solidFill>
              </a:defRPr>
            </a:lvl6pPr>
            <a:lvl7pPr algn="l">
              <a:buNone/>
              <a:defRPr sz="1875" b="0">
                <a:solidFill>
                  <a:srgbClr val="536760"/>
                </a:solidFill>
              </a:defRPr>
            </a:lvl7pPr>
            <a:lvl8pPr algn="l">
              <a:buNone/>
              <a:defRPr sz="1875" b="0">
                <a:solidFill>
                  <a:srgbClr val="536760"/>
                </a:solidFill>
              </a:defRPr>
            </a:lvl8pPr>
            <a:lvl9pPr algn="l">
              <a:buNone/>
              <a:defRPr sz="18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75" b="0">
                <a:solidFill>
                  <a:srgbClr val="536760"/>
                </a:solidFill>
              </a:defRPr>
            </a:pPr>
            <a:r>
              <a:rPr sz="1875" b="0">
                <a:solidFill>
                  <a:srgbClr val="536760"/>
                </a:solidFill>
              </a:rPr>
              <a:t>有效商品與 SKU</a:t>
            </a:r>
            <a:endParaRPr sz="1875" b="0">
              <a:solidFill>
                <a:srgbClr val="536760"/>
              </a:solidFill>
            </a:endParaRPr>
          </a:p>
        </p:txBody>
      </p:sp>
      <p:sp>
        <p:nvSpPr>
          <p:cNvPr id="7" name="3,000"/>
          <p:cNvSpPr>
            <a:spLocks noGrp="1"/>
          </p:cNvSpPr>
          <p:nvPr/>
        </p:nvSpPr>
        <p:spPr>
          <a:xfrm>
            <a:off x="4333875" y="1866900"/>
            <a:ext cx="328612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4650" b="1">
                <a:solidFill>
                  <a:srgbClr val="14634B"/>
                </a:solidFill>
              </a:defRPr>
            </a:defPPr>
            <a:lvl1pPr algn="l">
              <a:buNone/>
              <a:defRPr sz="4650" b="1">
                <a:solidFill>
                  <a:srgbClr val="14634B"/>
                </a:solidFill>
              </a:defRPr>
            </a:lvl1pPr>
            <a:lvl2pPr algn="l">
              <a:buNone/>
              <a:defRPr sz="4650" b="1">
                <a:solidFill>
                  <a:srgbClr val="14634B"/>
                </a:solidFill>
              </a:defRPr>
            </a:lvl2pPr>
            <a:lvl3pPr algn="l">
              <a:buNone/>
              <a:defRPr sz="4650" b="1">
                <a:solidFill>
                  <a:srgbClr val="14634B"/>
                </a:solidFill>
              </a:defRPr>
            </a:lvl3pPr>
            <a:lvl4pPr algn="l">
              <a:buNone/>
              <a:defRPr sz="4650" b="1">
                <a:solidFill>
                  <a:srgbClr val="14634B"/>
                </a:solidFill>
              </a:defRPr>
            </a:lvl4pPr>
            <a:lvl5pPr algn="l">
              <a:buNone/>
              <a:defRPr sz="4650" b="1">
                <a:solidFill>
                  <a:srgbClr val="14634B"/>
                </a:solidFill>
              </a:defRPr>
            </a:lvl5pPr>
            <a:lvl6pPr algn="l">
              <a:buNone/>
              <a:defRPr sz="4650" b="1">
                <a:solidFill>
                  <a:srgbClr val="14634B"/>
                </a:solidFill>
              </a:defRPr>
            </a:lvl6pPr>
            <a:lvl7pPr algn="l">
              <a:buNone/>
              <a:defRPr sz="4650" b="1">
                <a:solidFill>
                  <a:srgbClr val="14634B"/>
                </a:solidFill>
              </a:defRPr>
            </a:lvl7pPr>
            <a:lvl8pPr algn="l">
              <a:buNone/>
              <a:defRPr sz="4650" b="1">
                <a:solidFill>
                  <a:srgbClr val="14634B"/>
                </a:solidFill>
              </a:defRPr>
            </a:lvl8pPr>
            <a:lvl9pPr algn="l">
              <a:buNone/>
              <a:defRPr sz="46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4650" b="1">
                <a:solidFill>
                  <a:srgbClr val="14634B"/>
                </a:solidFill>
              </a:defRPr>
            </a:pPr>
            <a:r>
              <a:rPr sz="4650" b="1">
                <a:solidFill>
                  <a:srgbClr val="14634B"/>
                </a:solidFill>
              </a:rPr>
              <a:t>3,000</a:t>
            </a:r>
            <a:endParaRPr sz="4650" b="1">
              <a:solidFill>
                <a:srgbClr val="14634B"/>
              </a:solidFill>
            </a:endParaRPr>
          </a:p>
        </p:txBody>
      </p:sp>
      <p:sp>
        <p:nvSpPr>
          <p:cNvPr id="8" name="D1～D3 合成訂單"/>
          <p:cNvSpPr>
            <a:spLocks noGrp="1"/>
          </p:cNvSpPr>
          <p:nvPr/>
        </p:nvSpPr>
        <p:spPr>
          <a:xfrm>
            <a:off x="4333875" y="2686050"/>
            <a:ext cx="3286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75" b="0">
                <a:solidFill>
                  <a:srgbClr val="536760"/>
                </a:solidFill>
              </a:defRPr>
            </a:defPPr>
            <a:lvl1pPr algn="l">
              <a:buNone/>
              <a:defRPr sz="1875" b="0">
                <a:solidFill>
                  <a:srgbClr val="536760"/>
                </a:solidFill>
              </a:defRPr>
            </a:lvl1pPr>
            <a:lvl2pPr algn="l">
              <a:buNone/>
              <a:defRPr sz="1875" b="0">
                <a:solidFill>
                  <a:srgbClr val="536760"/>
                </a:solidFill>
              </a:defRPr>
            </a:lvl2pPr>
            <a:lvl3pPr algn="l">
              <a:buNone/>
              <a:defRPr sz="1875" b="0">
                <a:solidFill>
                  <a:srgbClr val="536760"/>
                </a:solidFill>
              </a:defRPr>
            </a:lvl3pPr>
            <a:lvl4pPr algn="l">
              <a:buNone/>
              <a:defRPr sz="1875" b="0">
                <a:solidFill>
                  <a:srgbClr val="536760"/>
                </a:solidFill>
              </a:defRPr>
            </a:lvl4pPr>
            <a:lvl5pPr algn="l">
              <a:buNone/>
              <a:defRPr sz="1875" b="0">
                <a:solidFill>
                  <a:srgbClr val="536760"/>
                </a:solidFill>
              </a:defRPr>
            </a:lvl5pPr>
            <a:lvl6pPr algn="l">
              <a:buNone/>
              <a:defRPr sz="1875" b="0">
                <a:solidFill>
                  <a:srgbClr val="536760"/>
                </a:solidFill>
              </a:defRPr>
            </a:lvl6pPr>
            <a:lvl7pPr algn="l">
              <a:buNone/>
              <a:defRPr sz="1875" b="0">
                <a:solidFill>
                  <a:srgbClr val="536760"/>
                </a:solidFill>
              </a:defRPr>
            </a:lvl7pPr>
            <a:lvl8pPr algn="l">
              <a:buNone/>
              <a:defRPr sz="1875" b="0">
                <a:solidFill>
                  <a:srgbClr val="536760"/>
                </a:solidFill>
              </a:defRPr>
            </a:lvl8pPr>
            <a:lvl9pPr algn="l">
              <a:buNone/>
              <a:defRPr sz="18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75" b="0">
                <a:solidFill>
                  <a:srgbClr val="536760"/>
                </a:solidFill>
              </a:defRPr>
            </a:pPr>
            <a:r>
              <a:rPr sz="1875" b="0">
                <a:solidFill>
                  <a:srgbClr val="536760"/>
                </a:solidFill>
              </a:rPr>
              <a:t>D1～D3 合成訂單</a:t>
            </a:r>
            <a:endParaRPr sz="1875" b="0">
              <a:solidFill>
                <a:srgbClr val="536760"/>
              </a:solidFill>
            </a:endParaRPr>
          </a:p>
        </p:txBody>
      </p:sp>
      <p:sp>
        <p:nvSpPr>
          <p:cNvPr id="9" name="8,969"/>
          <p:cNvSpPr>
            <a:spLocks noGrp="1"/>
          </p:cNvSpPr>
          <p:nvPr/>
        </p:nvSpPr>
        <p:spPr>
          <a:xfrm>
            <a:off x="8048625" y="1866900"/>
            <a:ext cx="328612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4650" b="1">
                <a:solidFill>
                  <a:srgbClr val="14634B"/>
                </a:solidFill>
              </a:defRPr>
            </a:defPPr>
            <a:lvl1pPr algn="l">
              <a:buNone/>
              <a:defRPr sz="4650" b="1">
                <a:solidFill>
                  <a:srgbClr val="14634B"/>
                </a:solidFill>
              </a:defRPr>
            </a:lvl1pPr>
            <a:lvl2pPr algn="l">
              <a:buNone/>
              <a:defRPr sz="4650" b="1">
                <a:solidFill>
                  <a:srgbClr val="14634B"/>
                </a:solidFill>
              </a:defRPr>
            </a:lvl2pPr>
            <a:lvl3pPr algn="l">
              <a:buNone/>
              <a:defRPr sz="4650" b="1">
                <a:solidFill>
                  <a:srgbClr val="14634B"/>
                </a:solidFill>
              </a:defRPr>
            </a:lvl3pPr>
            <a:lvl4pPr algn="l">
              <a:buNone/>
              <a:defRPr sz="4650" b="1">
                <a:solidFill>
                  <a:srgbClr val="14634B"/>
                </a:solidFill>
              </a:defRPr>
            </a:lvl4pPr>
            <a:lvl5pPr algn="l">
              <a:buNone/>
              <a:defRPr sz="4650" b="1">
                <a:solidFill>
                  <a:srgbClr val="14634B"/>
                </a:solidFill>
              </a:defRPr>
            </a:lvl5pPr>
            <a:lvl6pPr algn="l">
              <a:buNone/>
              <a:defRPr sz="4650" b="1">
                <a:solidFill>
                  <a:srgbClr val="14634B"/>
                </a:solidFill>
              </a:defRPr>
            </a:lvl6pPr>
            <a:lvl7pPr algn="l">
              <a:buNone/>
              <a:defRPr sz="4650" b="1">
                <a:solidFill>
                  <a:srgbClr val="14634B"/>
                </a:solidFill>
              </a:defRPr>
            </a:lvl7pPr>
            <a:lvl8pPr algn="l">
              <a:buNone/>
              <a:defRPr sz="4650" b="1">
                <a:solidFill>
                  <a:srgbClr val="14634B"/>
                </a:solidFill>
              </a:defRPr>
            </a:lvl8pPr>
            <a:lvl9pPr algn="l">
              <a:buNone/>
              <a:defRPr sz="46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4650" b="1">
                <a:solidFill>
                  <a:srgbClr val="14634B"/>
                </a:solidFill>
              </a:defRPr>
            </a:pPr>
            <a:r>
              <a:rPr sz="4650" b="1">
                <a:solidFill>
                  <a:srgbClr val="14634B"/>
                </a:solidFill>
              </a:rPr>
              <a:t>8,969</a:t>
            </a:r>
            <a:endParaRPr sz="4650" b="1">
              <a:solidFill>
                <a:srgbClr val="14634B"/>
              </a:solidFill>
            </a:endParaRPr>
          </a:p>
        </p:txBody>
      </p:sp>
      <p:sp>
        <p:nvSpPr>
          <p:cNvPr id="10" name="對應訂單明細"/>
          <p:cNvSpPr>
            <a:spLocks noGrp="1"/>
          </p:cNvSpPr>
          <p:nvPr/>
        </p:nvSpPr>
        <p:spPr>
          <a:xfrm>
            <a:off x="8048625" y="2686050"/>
            <a:ext cx="3286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75" b="0">
                <a:solidFill>
                  <a:srgbClr val="536760"/>
                </a:solidFill>
              </a:defRPr>
            </a:defPPr>
            <a:lvl1pPr algn="l">
              <a:buNone/>
              <a:defRPr sz="1875" b="0">
                <a:solidFill>
                  <a:srgbClr val="536760"/>
                </a:solidFill>
              </a:defRPr>
            </a:lvl1pPr>
            <a:lvl2pPr algn="l">
              <a:buNone/>
              <a:defRPr sz="1875" b="0">
                <a:solidFill>
                  <a:srgbClr val="536760"/>
                </a:solidFill>
              </a:defRPr>
            </a:lvl2pPr>
            <a:lvl3pPr algn="l">
              <a:buNone/>
              <a:defRPr sz="1875" b="0">
                <a:solidFill>
                  <a:srgbClr val="536760"/>
                </a:solidFill>
              </a:defRPr>
            </a:lvl3pPr>
            <a:lvl4pPr algn="l">
              <a:buNone/>
              <a:defRPr sz="1875" b="0">
                <a:solidFill>
                  <a:srgbClr val="536760"/>
                </a:solidFill>
              </a:defRPr>
            </a:lvl4pPr>
            <a:lvl5pPr algn="l">
              <a:buNone/>
              <a:defRPr sz="1875" b="0">
                <a:solidFill>
                  <a:srgbClr val="536760"/>
                </a:solidFill>
              </a:defRPr>
            </a:lvl5pPr>
            <a:lvl6pPr algn="l">
              <a:buNone/>
              <a:defRPr sz="1875" b="0">
                <a:solidFill>
                  <a:srgbClr val="536760"/>
                </a:solidFill>
              </a:defRPr>
            </a:lvl6pPr>
            <a:lvl7pPr algn="l">
              <a:buNone/>
              <a:defRPr sz="1875" b="0">
                <a:solidFill>
                  <a:srgbClr val="536760"/>
                </a:solidFill>
              </a:defRPr>
            </a:lvl7pPr>
            <a:lvl8pPr algn="l">
              <a:buNone/>
              <a:defRPr sz="1875" b="0">
                <a:solidFill>
                  <a:srgbClr val="536760"/>
                </a:solidFill>
              </a:defRPr>
            </a:lvl8pPr>
            <a:lvl9pPr algn="l">
              <a:buNone/>
              <a:defRPr sz="18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75" b="0">
                <a:solidFill>
                  <a:srgbClr val="536760"/>
                </a:solidFill>
              </a:defRPr>
            </a:pPr>
            <a:r>
              <a:rPr sz="1875" b="0">
                <a:solidFill>
                  <a:srgbClr val="536760"/>
                </a:solidFill>
              </a:rPr>
              <a:t>對應訂單明細</a:t>
            </a:r>
            <a:endParaRPr sz="1875" b="0">
              <a:solidFill>
                <a:srgbClr val="536760"/>
              </a:solidFill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19125" y="3238500"/>
          <a:ext cx="10953750" cy="2238375"/>
        </p:xfrm>
        <a:graphic>
          <a:graphicData uri="http://schemas.openxmlformats.org/drawingml/2006/table">
            <a:tbl>
              <a:tblPr/>
              <a:tblGrid>
                <a:gridCol w="3619500"/>
                <a:gridCol w="73342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資料群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關聯與用途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products / product_skus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一項商品對應規格、價格與庫存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users / carts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會員登入與持久購物車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orders / order_items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訂單主檔、商品快照與金額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behavior_events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搜尋、瀏覽、加購及購買事件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</a:tbl>
          </a:graphicData>
        </a:graphic>
      </p:graphicFrame>
      <p:sp>
        <p:nvSpPr>
          <p:cNvPr id="12" name="D4：1,240 筆合成事件已驗證；四類事件各 31"/>
          <p:cNvSpPr>
            <a:spLocks noGrp="1"/>
          </p:cNvSpPr>
          <p:nvPr/>
        </p:nvSpPr>
        <p:spPr>
          <a:xfrm>
            <a:off x="619125" y="5829300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950" b="1">
                <a:solidFill>
                  <a:srgbClr val="14634B"/>
                </a:solidFill>
              </a:defRPr>
            </a:defPPr>
            <a:lvl1pPr algn="l">
              <a:buNone/>
              <a:defRPr sz="1950" b="1">
                <a:solidFill>
                  <a:srgbClr val="14634B"/>
                </a:solidFill>
              </a:defRPr>
            </a:lvl1pPr>
            <a:lvl2pPr algn="l">
              <a:buNone/>
              <a:defRPr sz="1950" b="1">
                <a:solidFill>
                  <a:srgbClr val="14634B"/>
                </a:solidFill>
              </a:defRPr>
            </a:lvl2pPr>
            <a:lvl3pPr algn="l">
              <a:buNone/>
              <a:defRPr sz="1950" b="1">
                <a:solidFill>
                  <a:srgbClr val="14634B"/>
                </a:solidFill>
              </a:defRPr>
            </a:lvl3pPr>
            <a:lvl4pPr algn="l">
              <a:buNone/>
              <a:defRPr sz="1950" b="1">
                <a:solidFill>
                  <a:srgbClr val="14634B"/>
                </a:solidFill>
              </a:defRPr>
            </a:lvl4pPr>
            <a:lvl5pPr algn="l">
              <a:buNone/>
              <a:defRPr sz="1950" b="1">
                <a:solidFill>
                  <a:srgbClr val="14634B"/>
                </a:solidFill>
              </a:defRPr>
            </a:lvl5pPr>
            <a:lvl6pPr algn="l">
              <a:buNone/>
              <a:defRPr sz="1950" b="1">
                <a:solidFill>
                  <a:srgbClr val="14634B"/>
                </a:solidFill>
              </a:defRPr>
            </a:lvl6pPr>
            <a:lvl7pPr algn="l">
              <a:buNone/>
              <a:defRPr sz="1950" b="1">
                <a:solidFill>
                  <a:srgbClr val="14634B"/>
                </a:solidFill>
              </a:defRPr>
            </a:lvl7pPr>
            <a:lvl8pPr algn="l">
              <a:buNone/>
              <a:defRPr sz="1950" b="1">
                <a:solidFill>
                  <a:srgbClr val="14634B"/>
                </a:solidFill>
              </a:defRPr>
            </a:lvl8pPr>
            <a:lvl9pPr algn="l">
              <a:buNone/>
              <a:defRPr sz="19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950" b="1">
                <a:solidFill>
                  <a:srgbClr val="14634B"/>
                </a:solidFill>
              </a:defRPr>
            </a:pPr>
            <a:r>
              <a:rPr sz="1950" b="1">
                <a:solidFill>
                  <a:srgbClr val="14634B"/>
                </a:solidFill>
              </a:rPr>
              <a:t>D4：1,240 筆合成事件已驗證；四類事件各 310 筆，重送新增 0</a:t>
            </a:r>
            <a:endParaRPr sz="1950" b="1">
              <a:solidFill>
                <a:srgbClr val="14634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商品搜尋與 SKU 一致性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商品搜尋與 SKU 一致性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商品畫面、價格與可購庫存使用同一份 SKU 資料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商品畫面、價格與可購庫存使用同一份 SKU 資料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5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05</a:t>
            </a:r>
            <a:endParaRPr sz="1350" b="1">
              <a:solidFill>
                <a:srgbClr val="14634B"/>
              </a:solidFill>
            </a:endParaRPr>
          </a:p>
        </p:txBody>
      </p:sp>
      <p:sp>
        <p:nvSpPr>
          <p:cNvPr id="5" name="搜尋與分類"/>
          <p:cNvSpPr>
            <a:spLocks noGrp="1"/>
          </p:cNvSpPr>
          <p:nvPr/>
        </p:nvSpPr>
        <p:spPr>
          <a:xfrm>
            <a:off x="619125" y="20859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搜尋與分類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6" name="關鍵字、分類與分頁&#10;無結果時提供清楚提示"/>
          <p:cNvSpPr>
            <a:spLocks noGrp="1"/>
          </p:cNvSpPr>
          <p:nvPr/>
        </p:nvSpPr>
        <p:spPr>
          <a:xfrm>
            <a:off x="619125" y="2628900"/>
            <a:ext cx="38576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關鍵字、分類與分頁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無結果時提供清楚提示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7" name="商品與規格核對"/>
          <p:cNvSpPr>
            <a:spLocks noGrp="1"/>
          </p:cNvSpPr>
          <p:nvPr/>
        </p:nvSpPr>
        <p:spPr>
          <a:xfrm>
            <a:off x="619125" y="3962400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商品與規格核對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8" name="價格 NT$79&#10;庫存 95&#10;10/17 畫面與 A"/>
          <p:cNvSpPr>
            <a:spLocks noGrp="1"/>
          </p:cNvSpPr>
          <p:nvPr/>
        </p:nvSpPr>
        <p:spPr>
          <a:xfrm>
            <a:off x="619125" y="4505325"/>
            <a:ext cx="40005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價格 NT$79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庫存 95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10/17 畫面與 Atlas 讀回一致</a:t>
            </a:r>
            <a:endParaRPr sz="2025" b="0">
              <a:solidFill>
                <a:srgbClr val="17342E"/>
              </a:solidFill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750" y="2105465"/>
            <a:ext cx="6715125" cy="3599570"/>
          </a:xfrm>
          <a:prstGeom prst="rect">
            <a:avLst/>
          </a:prstGeom>
        </p:spPr>
      </p:pic>
      <p:sp>
        <p:nvSpPr>
          <p:cNvPr id="10" name="S03：10/17 商品實拍，數值為取證當時快照"/>
          <p:cNvSpPr>
            <a:spLocks noGrp="1"/>
          </p:cNvSpPr>
          <p:nvPr/>
        </p:nvSpPr>
        <p:spPr>
          <a:xfrm>
            <a:off x="4857750" y="5848350"/>
            <a:ext cx="6762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536760"/>
                </a:solidFill>
              </a:defRPr>
            </a:defPPr>
            <a:lvl1pPr algn="l">
              <a:buNone/>
              <a:defRPr sz="1350" b="0">
                <a:solidFill>
                  <a:srgbClr val="536760"/>
                </a:solidFill>
              </a:defRPr>
            </a:lvl1pPr>
            <a:lvl2pPr algn="l">
              <a:buNone/>
              <a:defRPr sz="1350" b="0">
                <a:solidFill>
                  <a:srgbClr val="536760"/>
                </a:solidFill>
              </a:defRPr>
            </a:lvl2pPr>
            <a:lvl3pPr algn="l">
              <a:buNone/>
              <a:defRPr sz="1350" b="0">
                <a:solidFill>
                  <a:srgbClr val="536760"/>
                </a:solidFill>
              </a:defRPr>
            </a:lvl3pPr>
            <a:lvl4pPr algn="l">
              <a:buNone/>
              <a:defRPr sz="1350" b="0">
                <a:solidFill>
                  <a:srgbClr val="536760"/>
                </a:solidFill>
              </a:defRPr>
            </a:lvl4pPr>
            <a:lvl5pPr algn="l">
              <a:buNone/>
              <a:defRPr sz="1350" b="0">
                <a:solidFill>
                  <a:srgbClr val="536760"/>
                </a:solidFill>
              </a:defRPr>
            </a:lvl5pPr>
            <a:lvl6pPr algn="l">
              <a:buNone/>
              <a:defRPr sz="1350" b="0">
                <a:solidFill>
                  <a:srgbClr val="536760"/>
                </a:solidFill>
              </a:defRPr>
            </a:lvl6pPr>
            <a:lvl7pPr algn="l">
              <a:buNone/>
              <a:defRPr sz="1350" b="0">
                <a:solidFill>
                  <a:srgbClr val="536760"/>
                </a:solidFill>
              </a:defRPr>
            </a:lvl7pPr>
            <a:lvl8pPr algn="l">
              <a:buNone/>
              <a:defRPr sz="1350" b="0">
                <a:solidFill>
                  <a:srgbClr val="536760"/>
                </a:solidFill>
              </a:defRPr>
            </a:lvl8pPr>
            <a:lvl9pPr algn="l">
              <a:buNone/>
              <a:defRPr sz="135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536760"/>
                </a:solidFill>
              </a:defRPr>
            </a:pPr>
            <a:r>
              <a:rPr sz="1350" b="0">
                <a:solidFill>
                  <a:srgbClr val="536760"/>
                </a:solidFill>
              </a:rPr>
              <a:t>S03：10/17 商品實拍，數值為取證當時快照</a:t>
            </a:r>
            <a:endParaRPr sz="1350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會員登入與權限管理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會員登入與權限管理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每次請求檢查有效會員與管理員角色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每次請求檢查有效會員與管理員角色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6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06</a:t>
            </a:r>
            <a:endParaRPr sz="1350" b="1">
              <a:solidFill>
                <a:srgbClr val="14634B"/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063" y="2066925"/>
            <a:ext cx="6998999" cy="3933825"/>
          </a:xfrm>
          <a:prstGeom prst="rect">
            <a:avLst/>
          </a:prstGeom>
        </p:spPr>
      </p:pic>
      <p:sp>
        <p:nvSpPr>
          <p:cNvPr id="6" name="驗證重點"/>
          <p:cNvSpPr>
            <a:spLocks noGrp="1"/>
          </p:cNvSpPr>
          <p:nvPr/>
        </p:nvSpPr>
        <p:spPr>
          <a:xfrm>
            <a:off x="8048625" y="2066925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驗證重點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7" name="有效會員登入&#10;錯誤與停用帳號拒絕&#10;一般會員無法進入後"/>
          <p:cNvSpPr>
            <a:spLocks noGrp="1"/>
          </p:cNvSpPr>
          <p:nvPr/>
        </p:nvSpPr>
        <p:spPr>
          <a:xfrm>
            <a:off x="8048625" y="2705100"/>
            <a:ext cx="3524250" cy="2543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有效會員登入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錯誤與停用帳號拒絕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一般會員無法進入後台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每台裝置可獨立撤權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寫入表單驗證 CSRF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8" name="圖為匿名登入入口；正式同版的完整角色與交易驗收仍待補"/>
          <p:cNvSpPr>
            <a:spLocks noGrp="1"/>
          </p:cNvSpPr>
          <p:nvPr/>
        </p:nvSpPr>
        <p:spPr>
          <a:xfrm>
            <a:off x="619125" y="6076950"/>
            <a:ext cx="109537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536760"/>
                </a:solidFill>
              </a:defRPr>
            </a:defPPr>
            <a:lvl1pPr algn="l">
              <a:buNone/>
              <a:defRPr sz="1500" b="0">
                <a:solidFill>
                  <a:srgbClr val="536760"/>
                </a:solidFill>
              </a:defRPr>
            </a:lvl1pPr>
            <a:lvl2pPr algn="l">
              <a:buNone/>
              <a:defRPr sz="1500" b="0">
                <a:solidFill>
                  <a:srgbClr val="536760"/>
                </a:solidFill>
              </a:defRPr>
            </a:lvl2pPr>
            <a:lvl3pPr algn="l">
              <a:buNone/>
              <a:defRPr sz="1500" b="0">
                <a:solidFill>
                  <a:srgbClr val="536760"/>
                </a:solidFill>
              </a:defRPr>
            </a:lvl3pPr>
            <a:lvl4pPr algn="l">
              <a:buNone/>
              <a:defRPr sz="1500" b="0">
                <a:solidFill>
                  <a:srgbClr val="536760"/>
                </a:solidFill>
              </a:defRPr>
            </a:lvl4pPr>
            <a:lvl5pPr algn="l">
              <a:buNone/>
              <a:defRPr sz="1500" b="0">
                <a:solidFill>
                  <a:srgbClr val="536760"/>
                </a:solidFill>
              </a:defRPr>
            </a:lvl5pPr>
            <a:lvl6pPr algn="l">
              <a:buNone/>
              <a:defRPr sz="1500" b="0">
                <a:solidFill>
                  <a:srgbClr val="536760"/>
                </a:solidFill>
              </a:defRPr>
            </a:lvl6pPr>
            <a:lvl7pPr algn="l">
              <a:buNone/>
              <a:defRPr sz="1500" b="0">
                <a:solidFill>
                  <a:srgbClr val="536760"/>
                </a:solidFill>
              </a:defRPr>
            </a:lvl7pPr>
            <a:lvl8pPr algn="l">
              <a:buNone/>
              <a:defRPr sz="1500" b="0">
                <a:solidFill>
                  <a:srgbClr val="536760"/>
                </a:solidFill>
              </a:defRPr>
            </a:lvl8pPr>
            <a:lvl9pPr algn="l">
              <a:buNone/>
              <a:defRPr sz="15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536760"/>
                </a:solidFill>
              </a:defRPr>
            </a:pPr>
            <a:r>
              <a:rPr sz="1500" b="0">
                <a:solidFill>
                  <a:srgbClr val="536760"/>
                </a:solidFill>
              </a:rPr>
              <a:t>圖為匿名登入入口；正式同版的完整角色與交易驗收仍待補</a:t>
            </a:r>
            <a:endParaRPr sz="1500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3" name="直接箭頭連接符 12"/>
          <p:cNvCxnSpPr>
            <a:stCxn id="8" idx="3"/>
            <a:endCxn id="9" idx="1"/>
          </p:cNvCxnSpPr>
          <p:nvPr/>
        </p:nvCxnSpPr>
        <p:spPr>
          <a:xfrm>
            <a:off x="9315450" y="2562225"/>
            <a:ext cx="257175" cy="0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2" name="直接箭頭連接符 11"/>
          <p:cNvCxnSpPr>
            <a:stCxn id="7" idx="3"/>
            <a:endCxn id="8" idx="1"/>
          </p:cNvCxnSpPr>
          <p:nvPr/>
        </p:nvCxnSpPr>
        <p:spPr>
          <a:xfrm>
            <a:off x="7077075" y="2562225"/>
            <a:ext cx="257175" cy="0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1" name="直接箭頭連接符 10"/>
          <p:cNvCxnSpPr>
            <a:stCxn id="6" idx="3"/>
            <a:endCxn id="7" idx="1"/>
          </p:cNvCxnSpPr>
          <p:nvPr/>
        </p:nvCxnSpPr>
        <p:spPr>
          <a:xfrm>
            <a:off x="4838700" y="2562225"/>
            <a:ext cx="257175" cy="0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cxnSp>
        <p:nvCxnSpPr>
          <p:cNvPr id="10" name="直接箭頭連接符 9"/>
          <p:cNvCxnSpPr>
            <a:stCxn id="5" idx="3"/>
            <a:endCxn id="6" idx="1"/>
          </p:cNvCxnSpPr>
          <p:nvPr/>
        </p:nvCxnSpPr>
        <p:spPr>
          <a:xfrm>
            <a:off x="2600325" y="2562225"/>
            <a:ext cx="257175" cy="0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sp>
        <p:nvSpPr>
          <p:cNvPr id="19" name="購物車與示範結帳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購物車與示範結帳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服務以交易、版本檢查與操作識別碼維持資料一致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服務以交易、版本檢查與操作識別碼維持資料一致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7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07</a:t>
            </a:r>
            <a:endParaRPr sz="1350" b="1">
              <a:solidFill>
                <a:srgbClr val="14634B"/>
              </a:solidFill>
            </a:endParaRPr>
          </a:p>
        </p:txBody>
      </p:sp>
      <p:sp>
        <p:nvSpPr>
          <p:cNvPr id="5" name="選擇 SKU"/>
          <p:cNvSpPr>
            <a:spLocks noGrp="1"/>
          </p:cNvSpPr>
          <p:nvPr/>
        </p:nvSpPr>
        <p:spPr>
          <a:xfrm>
            <a:off x="619125" y="2171700"/>
            <a:ext cx="1981200" cy="781050"/>
          </a:xfrm>
          <a:prstGeom prst="rect">
            <a:avLst/>
          </a:prstGeom>
          <a:solidFill>
            <a:srgbClr val="E5F0E9"/>
          </a:solidFill>
          <a:ln w="12383">
            <a:solidFill>
              <a:srgbClr val="14634B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17342E"/>
                </a:solidFill>
              </a:defRPr>
            </a:defPPr>
            <a:lvl1pPr algn="ctr">
              <a:buNone/>
              <a:defRPr sz="1800" b="1">
                <a:solidFill>
                  <a:srgbClr val="17342E"/>
                </a:solidFill>
              </a:defRPr>
            </a:lvl1pPr>
            <a:lvl2pPr algn="ctr">
              <a:buNone/>
              <a:defRPr sz="1800" b="1">
                <a:solidFill>
                  <a:srgbClr val="17342E"/>
                </a:solidFill>
              </a:defRPr>
            </a:lvl2pPr>
            <a:lvl3pPr algn="ctr">
              <a:buNone/>
              <a:defRPr sz="1800" b="1">
                <a:solidFill>
                  <a:srgbClr val="17342E"/>
                </a:solidFill>
              </a:defRPr>
            </a:lvl3pPr>
            <a:lvl4pPr algn="ctr">
              <a:buNone/>
              <a:defRPr sz="1800" b="1">
                <a:solidFill>
                  <a:srgbClr val="17342E"/>
                </a:solidFill>
              </a:defRPr>
            </a:lvl4pPr>
            <a:lvl5pPr algn="ctr">
              <a:buNone/>
              <a:defRPr sz="1800" b="1">
                <a:solidFill>
                  <a:srgbClr val="17342E"/>
                </a:solidFill>
              </a:defRPr>
            </a:lvl5pPr>
            <a:lvl6pPr algn="ctr">
              <a:buNone/>
              <a:defRPr sz="1800" b="1">
                <a:solidFill>
                  <a:srgbClr val="17342E"/>
                </a:solidFill>
              </a:defRPr>
            </a:lvl6pPr>
            <a:lvl7pPr algn="ctr">
              <a:buNone/>
              <a:defRPr sz="1800" b="1">
                <a:solidFill>
                  <a:srgbClr val="17342E"/>
                </a:solidFill>
              </a:defRPr>
            </a:lvl7pPr>
            <a:lvl8pPr algn="ctr">
              <a:buNone/>
              <a:defRPr sz="1800" b="1">
                <a:solidFill>
                  <a:srgbClr val="17342E"/>
                </a:solidFill>
              </a:defRPr>
            </a:lvl8pPr>
            <a:lvl9pPr algn="ctr">
              <a:buNone/>
              <a:defRPr sz="1800" b="1">
                <a:solidFill>
                  <a:srgbClr val="17342E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17342E"/>
                </a:solidFill>
              </a:defRPr>
            </a:pPr>
            <a:r>
              <a:rPr sz="1800" b="1">
                <a:solidFill>
                  <a:srgbClr val="17342E"/>
                </a:solidFill>
              </a:rPr>
              <a:t>選擇 SKU</a:t>
            </a:r>
            <a:endParaRPr sz="1800" b="1">
              <a:solidFill>
                <a:srgbClr val="17342E"/>
              </a:solidFill>
            </a:endParaRPr>
          </a:p>
        </p:txBody>
      </p:sp>
      <p:sp>
        <p:nvSpPr>
          <p:cNvPr id="6" name="加入購物車"/>
          <p:cNvSpPr>
            <a:spLocks noGrp="1"/>
          </p:cNvSpPr>
          <p:nvPr/>
        </p:nvSpPr>
        <p:spPr>
          <a:xfrm>
            <a:off x="2857500" y="2171700"/>
            <a:ext cx="1981200" cy="781050"/>
          </a:xfrm>
          <a:prstGeom prst="rect">
            <a:avLst/>
          </a:prstGeom>
          <a:solidFill>
            <a:srgbClr val="E5F0E9"/>
          </a:solidFill>
          <a:ln w="12383">
            <a:solidFill>
              <a:srgbClr val="14634B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17342E"/>
                </a:solidFill>
              </a:defRPr>
            </a:defPPr>
            <a:lvl1pPr algn="ctr">
              <a:buNone/>
              <a:defRPr sz="1800" b="1">
                <a:solidFill>
                  <a:srgbClr val="17342E"/>
                </a:solidFill>
              </a:defRPr>
            </a:lvl1pPr>
            <a:lvl2pPr algn="ctr">
              <a:buNone/>
              <a:defRPr sz="1800" b="1">
                <a:solidFill>
                  <a:srgbClr val="17342E"/>
                </a:solidFill>
              </a:defRPr>
            </a:lvl2pPr>
            <a:lvl3pPr algn="ctr">
              <a:buNone/>
              <a:defRPr sz="1800" b="1">
                <a:solidFill>
                  <a:srgbClr val="17342E"/>
                </a:solidFill>
              </a:defRPr>
            </a:lvl3pPr>
            <a:lvl4pPr algn="ctr">
              <a:buNone/>
              <a:defRPr sz="1800" b="1">
                <a:solidFill>
                  <a:srgbClr val="17342E"/>
                </a:solidFill>
              </a:defRPr>
            </a:lvl4pPr>
            <a:lvl5pPr algn="ctr">
              <a:buNone/>
              <a:defRPr sz="1800" b="1">
                <a:solidFill>
                  <a:srgbClr val="17342E"/>
                </a:solidFill>
              </a:defRPr>
            </a:lvl5pPr>
            <a:lvl6pPr algn="ctr">
              <a:buNone/>
              <a:defRPr sz="1800" b="1">
                <a:solidFill>
                  <a:srgbClr val="17342E"/>
                </a:solidFill>
              </a:defRPr>
            </a:lvl6pPr>
            <a:lvl7pPr algn="ctr">
              <a:buNone/>
              <a:defRPr sz="1800" b="1">
                <a:solidFill>
                  <a:srgbClr val="17342E"/>
                </a:solidFill>
              </a:defRPr>
            </a:lvl7pPr>
            <a:lvl8pPr algn="ctr">
              <a:buNone/>
              <a:defRPr sz="1800" b="1">
                <a:solidFill>
                  <a:srgbClr val="17342E"/>
                </a:solidFill>
              </a:defRPr>
            </a:lvl8pPr>
            <a:lvl9pPr algn="ctr">
              <a:buNone/>
              <a:defRPr sz="1800" b="1">
                <a:solidFill>
                  <a:srgbClr val="17342E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17342E"/>
                </a:solidFill>
              </a:defRPr>
            </a:pPr>
            <a:r>
              <a:rPr sz="1800" b="1">
                <a:solidFill>
                  <a:srgbClr val="17342E"/>
                </a:solidFill>
              </a:rPr>
              <a:t>加入購物車</a:t>
            </a:r>
            <a:endParaRPr sz="1800" b="1">
              <a:solidFill>
                <a:srgbClr val="17342E"/>
              </a:solidFill>
            </a:endParaRPr>
          </a:p>
        </p:txBody>
      </p:sp>
      <p:sp>
        <p:nvSpPr>
          <p:cNvPr id="7" name="調整數量"/>
          <p:cNvSpPr>
            <a:spLocks noGrp="1"/>
          </p:cNvSpPr>
          <p:nvPr/>
        </p:nvSpPr>
        <p:spPr>
          <a:xfrm>
            <a:off x="5095875" y="2171700"/>
            <a:ext cx="1981200" cy="781050"/>
          </a:xfrm>
          <a:prstGeom prst="rect">
            <a:avLst/>
          </a:prstGeom>
          <a:solidFill>
            <a:srgbClr val="E5F0E9"/>
          </a:solidFill>
          <a:ln w="12383">
            <a:solidFill>
              <a:srgbClr val="14634B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17342E"/>
                </a:solidFill>
              </a:defRPr>
            </a:defPPr>
            <a:lvl1pPr algn="ctr">
              <a:buNone/>
              <a:defRPr sz="1800" b="1">
                <a:solidFill>
                  <a:srgbClr val="17342E"/>
                </a:solidFill>
              </a:defRPr>
            </a:lvl1pPr>
            <a:lvl2pPr algn="ctr">
              <a:buNone/>
              <a:defRPr sz="1800" b="1">
                <a:solidFill>
                  <a:srgbClr val="17342E"/>
                </a:solidFill>
              </a:defRPr>
            </a:lvl2pPr>
            <a:lvl3pPr algn="ctr">
              <a:buNone/>
              <a:defRPr sz="1800" b="1">
                <a:solidFill>
                  <a:srgbClr val="17342E"/>
                </a:solidFill>
              </a:defRPr>
            </a:lvl3pPr>
            <a:lvl4pPr algn="ctr">
              <a:buNone/>
              <a:defRPr sz="1800" b="1">
                <a:solidFill>
                  <a:srgbClr val="17342E"/>
                </a:solidFill>
              </a:defRPr>
            </a:lvl4pPr>
            <a:lvl5pPr algn="ctr">
              <a:buNone/>
              <a:defRPr sz="1800" b="1">
                <a:solidFill>
                  <a:srgbClr val="17342E"/>
                </a:solidFill>
              </a:defRPr>
            </a:lvl5pPr>
            <a:lvl6pPr algn="ctr">
              <a:buNone/>
              <a:defRPr sz="1800" b="1">
                <a:solidFill>
                  <a:srgbClr val="17342E"/>
                </a:solidFill>
              </a:defRPr>
            </a:lvl6pPr>
            <a:lvl7pPr algn="ctr">
              <a:buNone/>
              <a:defRPr sz="1800" b="1">
                <a:solidFill>
                  <a:srgbClr val="17342E"/>
                </a:solidFill>
              </a:defRPr>
            </a:lvl7pPr>
            <a:lvl8pPr algn="ctr">
              <a:buNone/>
              <a:defRPr sz="1800" b="1">
                <a:solidFill>
                  <a:srgbClr val="17342E"/>
                </a:solidFill>
              </a:defRPr>
            </a:lvl8pPr>
            <a:lvl9pPr algn="ctr">
              <a:buNone/>
              <a:defRPr sz="1800" b="1">
                <a:solidFill>
                  <a:srgbClr val="17342E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17342E"/>
                </a:solidFill>
              </a:defRPr>
            </a:pPr>
            <a:r>
              <a:rPr sz="1800" b="1">
                <a:solidFill>
                  <a:srgbClr val="17342E"/>
                </a:solidFill>
              </a:rPr>
              <a:t>調整數量</a:t>
            </a:r>
            <a:endParaRPr sz="1800" b="1">
              <a:solidFill>
                <a:srgbClr val="17342E"/>
              </a:solidFill>
            </a:endParaRPr>
          </a:p>
        </p:txBody>
      </p:sp>
      <p:sp>
        <p:nvSpPr>
          <p:cNvPr id="8" name="示範結帳"/>
          <p:cNvSpPr>
            <a:spLocks noGrp="1"/>
          </p:cNvSpPr>
          <p:nvPr/>
        </p:nvSpPr>
        <p:spPr>
          <a:xfrm>
            <a:off x="7334250" y="2171700"/>
            <a:ext cx="1981200" cy="781050"/>
          </a:xfrm>
          <a:prstGeom prst="rect">
            <a:avLst/>
          </a:prstGeom>
          <a:solidFill>
            <a:srgbClr val="E5F0E9"/>
          </a:solidFill>
          <a:ln w="12383">
            <a:solidFill>
              <a:srgbClr val="14634B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17342E"/>
                </a:solidFill>
              </a:defRPr>
            </a:defPPr>
            <a:lvl1pPr algn="ctr">
              <a:buNone/>
              <a:defRPr sz="1800" b="1">
                <a:solidFill>
                  <a:srgbClr val="17342E"/>
                </a:solidFill>
              </a:defRPr>
            </a:lvl1pPr>
            <a:lvl2pPr algn="ctr">
              <a:buNone/>
              <a:defRPr sz="1800" b="1">
                <a:solidFill>
                  <a:srgbClr val="17342E"/>
                </a:solidFill>
              </a:defRPr>
            </a:lvl2pPr>
            <a:lvl3pPr algn="ctr">
              <a:buNone/>
              <a:defRPr sz="1800" b="1">
                <a:solidFill>
                  <a:srgbClr val="17342E"/>
                </a:solidFill>
              </a:defRPr>
            </a:lvl3pPr>
            <a:lvl4pPr algn="ctr">
              <a:buNone/>
              <a:defRPr sz="1800" b="1">
                <a:solidFill>
                  <a:srgbClr val="17342E"/>
                </a:solidFill>
              </a:defRPr>
            </a:lvl4pPr>
            <a:lvl5pPr algn="ctr">
              <a:buNone/>
              <a:defRPr sz="1800" b="1">
                <a:solidFill>
                  <a:srgbClr val="17342E"/>
                </a:solidFill>
              </a:defRPr>
            </a:lvl5pPr>
            <a:lvl6pPr algn="ctr">
              <a:buNone/>
              <a:defRPr sz="1800" b="1">
                <a:solidFill>
                  <a:srgbClr val="17342E"/>
                </a:solidFill>
              </a:defRPr>
            </a:lvl6pPr>
            <a:lvl7pPr algn="ctr">
              <a:buNone/>
              <a:defRPr sz="1800" b="1">
                <a:solidFill>
                  <a:srgbClr val="17342E"/>
                </a:solidFill>
              </a:defRPr>
            </a:lvl7pPr>
            <a:lvl8pPr algn="ctr">
              <a:buNone/>
              <a:defRPr sz="1800" b="1">
                <a:solidFill>
                  <a:srgbClr val="17342E"/>
                </a:solidFill>
              </a:defRPr>
            </a:lvl8pPr>
            <a:lvl9pPr algn="ctr">
              <a:buNone/>
              <a:defRPr sz="1800" b="1">
                <a:solidFill>
                  <a:srgbClr val="17342E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17342E"/>
                </a:solidFill>
              </a:defRPr>
            </a:pPr>
            <a:r>
              <a:rPr sz="1800" b="1">
                <a:solidFill>
                  <a:srgbClr val="17342E"/>
                </a:solidFill>
              </a:rPr>
              <a:t>示範結帳</a:t>
            </a:r>
            <a:endParaRPr sz="1800" b="1">
              <a:solidFill>
                <a:srgbClr val="17342E"/>
              </a:solidFill>
            </a:endParaRPr>
          </a:p>
        </p:txBody>
      </p:sp>
      <p:sp>
        <p:nvSpPr>
          <p:cNvPr id="9" name="訂單與明細"/>
          <p:cNvSpPr>
            <a:spLocks noGrp="1"/>
          </p:cNvSpPr>
          <p:nvPr/>
        </p:nvSpPr>
        <p:spPr>
          <a:xfrm>
            <a:off x="9572625" y="2171700"/>
            <a:ext cx="1981200" cy="781050"/>
          </a:xfrm>
          <a:prstGeom prst="rect">
            <a:avLst/>
          </a:prstGeom>
          <a:solidFill>
            <a:srgbClr val="E5F0E9"/>
          </a:solidFill>
          <a:ln w="12383">
            <a:solidFill>
              <a:srgbClr val="14634B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17342E"/>
                </a:solidFill>
              </a:defRPr>
            </a:defPPr>
            <a:lvl1pPr algn="ctr">
              <a:buNone/>
              <a:defRPr sz="1800" b="1">
                <a:solidFill>
                  <a:srgbClr val="17342E"/>
                </a:solidFill>
              </a:defRPr>
            </a:lvl1pPr>
            <a:lvl2pPr algn="ctr">
              <a:buNone/>
              <a:defRPr sz="1800" b="1">
                <a:solidFill>
                  <a:srgbClr val="17342E"/>
                </a:solidFill>
              </a:defRPr>
            </a:lvl2pPr>
            <a:lvl3pPr algn="ctr">
              <a:buNone/>
              <a:defRPr sz="1800" b="1">
                <a:solidFill>
                  <a:srgbClr val="17342E"/>
                </a:solidFill>
              </a:defRPr>
            </a:lvl3pPr>
            <a:lvl4pPr algn="ctr">
              <a:buNone/>
              <a:defRPr sz="1800" b="1">
                <a:solidFill>
                  <a:srgbClr val="17342E"/>
                </a:solidFill>
              </a:defRPr>
            </a:lvl4pPr>
            <a:lvl5pPr algn="ctr">
              <a:buNone/>
              <a:defRPr sz="1800" b="1">
                <a:solidFill>
                  <a:srgbClr val="17342E"/>
                </a:solidFill>
              </a:defRPr>
            </a:lvl5pPr>
            <a:lvl6pPr algn="ctr">
              <a:buNone/>
              <a:defRPr sz="1800" b="1">
                <a:solidFill>
                  <a:srgbClr val="17342E"/>
                </a:solidFill>
              </a:defRPr>
            </a:lvl6pPr>
            <a:lvl7pPr algn="ctr">
              <a:buNone/>
              <a:defRPr sz="1800" b="1">
                <a:solidFill>
                  <a:srgbClr val="17342E"/>
                </a:solidFill>
              </a:defRPr>
            </a:lvl7pPr>
            <a:lvl8pPr algn="ctr">
              <a:buNone/>
              <a:defRPr sz="1800" b="1">
                <a:solidFill>
                  <a:srgbClr val="17342E"/>
                </a:solidFill>
              </a:defRPr>
            </a:lvl8pPr>
            <a:lvl9pPr algn="ctr">
              <a:buNone/>
              <a:defRPr sz="1800" b="1">
                <a:solidFill>
                  <a:srgbClr val="17342E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17342E"/>
                </a:solidFill>
              </a:defRPr>
            </a:pPr>
            <a:r>
              <a:rPr sz="1800" b="1">
                <a:solidFill>
                  <a:srgbClr val="17342E"/>
                </a:solidFill>
              </a:rPr>
              <a:t>訂單與明細</a:t>
            </a:r>
            <a:endParaRPr sz="1800" b="1">
              <a:solidFill>
                <a:srgbClr val="17342E"/>
              </a:solidFill>
            </a:endParaRPr>
          </a:p>
        </p:txBody>
      </p:sp>
      <p:sp>
        <p:nvSpPr>
          <p:cNvPr id="14" name="版本與重送"/>
          <p:cNvSpPr>
            <a:spLocks noGrp="1"/>
          </p:cNvSpPr>
          <p:nvPr/>
        </p:nvSpPr>
        <p:spPr>
          <a:xfrm>
            <a:off x="619125" y="3705225"/>
            <a:ext cx="4857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版本與重送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15" name="購物車版本不同時回報衝突&#10;同一結帳識別碼重送不重複扣"/>
          <p:cNvSpPr>
            <a:spLocks noGrp="1"/>
          </p:cNvSpPr>
          <p:nvPr/>
        </p:nvSpPr>
        <p:spPr>
          <a:xfrm>
            <a:off x="619125" y="4295775"/>
            <a:ext cx="504825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購物車版本不同時回報衝突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同一結帳識別碼重送不重複扣庫存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16" name="交易與回滾"/>
          <p:cNvSpPr>
            <a:spLocks noGrp="1"/>
          </p:cNvSpPr>
          <p:nvPr/>
        </p:nvSpPr>
        <p:spPr>
          <a:xfrm>
            <a:off x="6429375" y="3705225"/>
            <a:ext cx="5143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交易與回滾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17" name="訂單、明細與庫存在交易內完成&#10;缺貨或中途錯誤時回滾"/>
          <p:cNvSpPr>
            <a:spLocks noGrp="1"/>
          </p:cNvSpPr>
          <p:nvPr/>
        </p:nvSpPr>
        <p:spPr>
          <a:xfrm>
            <a:off x="6429375" y="4295775"/>
            <a:ext cx="51435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訂單、明細與庫存在交易內完成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缺貨或中途錯誤時回滾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18" name="示範訂單標記 is_demo；付款與物流整合列為後續"/>
          <p:cNvSpPr>
            <a:spLocks noGrp="1"/>
          </p:cNvSpPr>
          <p:nvPr/>
        </p:nvSpPr>
        <p:spPr>
          <a:xfrm>
            <a:off x="619125" y="5915025"/>
            <a:ext cx="109537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示範訂單標記 is_demo；付款與物流整合列為後續工作</a:t>
            </a:r>
            <a:endParaRPr sz="1800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D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9" name="直接箭頭連接符 8"/>
          <p:cNvCxnSpPr>
            <a:stCxn id="6" idx="2"/>
            <a:endCxn id="7" idx="0"/>
          </p:cNvCxnSpPr>
          <p:nvPr/>
        </p:nvCxnSpPr>
        <p:spPr>
          <a:xfrm>
            <a:off x="3190875" y="3800475"/>
            <a:ext cx="0" cy="390525"/>
          </a:xfrm>
          <a:prstGeom prst="straightConnector1">
            <a:avLst/>
          </a:prstGeom>
          <a:ln w="19050">
            <a:solidFill>
              <a:srgbClr val="38C5CD"/>
            </a:solidFill>
            <a:prstDash val="dash"/>
            <a:tailEnd type="triangle" w="sm" len="sm"/>
          </a:ln>
        </p:spPr>
      </p:cxnSp>
      <p:cxnSp>
        <p:nvCxnSpPr>
          <p:cNvPr id="8" name="直接箭頭連接符 7"/>
          <p:cNvCxnSpPr>
            <a:stCxn id="5" idx="2"/>
            <a:endCxn id="6" idx="0"/>
          </p:cNvCxnSpPr>
          <p:nvPr/>
        </p:nvCxnSpPr>
        <p:spPr>
          <a:xfrm>
            <a:off x="3190875" y="2743200"/>
            <a:ext cx="0" cy="390525"/>
          </a:xfrm>
          <a:prstGeom prst="straightConnector1">
            <a:avLst/>
          </a:prstGeom>
          <a:ln w="19050">
            <a:solidFill>
              <a:srgbClr val="38C5CD"/>
            </a:solidFill>
            <a:prstDash val="solid"/>
            <a:tailEnd type="triangle" w="sm" len="sm"/>
          </a:ln>
        </p:spPr>
      </p:cxnSp>
      <p:sp>
        <p:nvSpPr>
          <p:cNvPr id="14" name="可解釋推薦與退回流程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FFFFFF"/>
                </a:solidFill>
              </a:defRPr>
            </a:defPPr>
            <a:lvl1pPr algn="l">
              <a:buNone/>
              <a:defRPr sz="3300" b="1">
                <a:solidFill>
                  <a:srgbClr val="FFFFFF"/>
                </a:solidFill>
              </a:defRPr>
            </a:lvl1pPr>
            <a:lvl2pPr algn="l">
              <a:buNone/>
              <a:defRPr sz="3300" b="1">
                <a:solidFill>
                  <a:srgbClr val="FFFFFF"/>
                </a:solidFill>
              </a:defRPr>
            </a:lvl2pPr>
            <a:lvl3pPr algn="l">
              <a:buNone/>
              <a:defRPr sz="3300" b="1">
                <a:solidFill>
                  <a:srgbClr val="FFFFFF"/>
                </a:solidFill>
              </a:defRPr>
            </a:lvl3pPr>
            <a:lvl4pPr algn="l">
              <a:buNone/>
              <a:defRPr sz="3300" b="1">
                <a:solidFill>
                  <a:srgbClr val="FFFFFF"/>
                </a:solidFill>
              </a:defRPr>
            </a:lvl4pPr>
            <a:lvl5pPr algn="l">
              <a:buNone/>
              <a:defRPr sz="3300" b="1">
                <a:solidFill>
                  <a:srgbClr val="FFFFFF"/>
                </a:solidFill>
              </a:defRPr>
            </a:lvl5pPr>
            <a:lvl6pPr algn="l">
              <a:buNone/>
              <a:defRPr sz="3300" b="1">
                <a:solidFill>
                  <a:srgbClr val="FFFFFF"/>
                </a:solidFill>
              </a:defRPr>
            </a:lvl6pPr>
            <a:lvl7pPr algn="l">
              <a:buNone/>
              <a:defRPr sz="3300" b="1">
                <a:solidFill>
                  <a:srgbClr val="FFFFFF"/>
                </a:solidFill>
              </a:defRPr>
            </a:lvl7pPr>
            <a:lvl8pPr algn="l">
              <a:buNone/>
              <a:defRPr sz="3300" b="1">
                <a:solidFill>
                  <a:srgbClr val="FFFFFF"/>
                </a:solidFill>
              </a:defRPr>
            </a:lvl8pPr>
            <a:lvl9pPr algn="l">
              <a:buNone/>
              <a:defRPr sz="3300" b="1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可解釋推薦與退回流程</a:t>
            </a:r>
            <a:endParaRPr sz="3300" b="1">
              <a:solidFill>
                <a:srgbClr val="FFFFFF"/>
              </a:solidFill>
            </a:endParaRPr>
          </a:p>
        </p:txBody>
      </p:sp>
      <p:sp>
        <p:nvSpPr>
          <p:cNvPr id="2" name="先確認商品可售，再依查詢與行為資料產生推薦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B8DCD4"/>
                </a:solidFill>
              </a:defRPr>
            </a:defPPr>
            <a:lvl1pPr algn="l">
              <a:buNone/>
              <a:defRPr sz="1800" b="0">
                <a:solidFill>
                  <a:srgbClr val="B8DCD4"/>
                </a:solidFill>
              </a:defRPr>
            </a:lvl1pPr>
            <a:lvl2pPr algn="l">
              <a:buNone/>
              <a:defRPr sz="1800" b="0">
                <a:solidFill>
                  <a:srgbClr val="B8DCD4"/>
                </a:solidFill>
              </a:defRPr>
            </a:lvl2pPr>
            <a:lvl3pPr algn="l">
              <a:buNone/>
              <a:defRPr sz="1800" b="0">
                <a:solidFill>
                  <a:srgbClr val="B8DCD4"/>
                </a:solidFill>
              </a:defRPr>
            </a:lvl3pPr>
            <a:lvl4pPr algn="l">
              <a:buNone/>
              <a:defRPr sz="1800" b="0">
                <a:solidFill>
                  <a:srgbClr val="B8DCD4"/>
                </a:solidFill>
              </a:defRPr>
            </a:lvl4pPr>
            <a:lvl5pPr algn="l">
              <a:buNone/>
              <a:defRPr sz="1800" b="0">
                <a:solidFill>
                  <a:srgbClr val="B8DCD4"/>
                </a:solidFill>
              </a:defRPr>
            </a:lvl5pPr>
            <a:lvl6pPr algn="l">
              <a:buNone/>
              <a:defRPr sz="1800" b="0">
                <a:solidFill>
                  <a:srgbClr val="B8DCD4"/>
                </a:solidFill>
              </a:defRPr>
            </a:lvl6pPr>
            <a:lvl7pPr algn="l">
              <a:buNone/>
              <a:defRPr sz="1800" b="0">
                <a:solidFill>
                  <a:srgbClr val="B8DCD4"/>
                </a:solidFill>
              </a:defRPr>
            </a:lvl7pPr>
            <a:lvl8pPr algn="l">
              <a:buNone/>
              <a:defRPr sz="1800" b="0">
                <a:solidFill>
                  <a:srgbClr val="B8DCD4"/>
                </a:solidFill>
              </a:defRPr>
            </a:lvl8pPr>
            <a:lvl9pPr algn="l">
              <a:buNone/>
              <a:defRPr sz="1800" b="0">
                <a:solidFill>
                  <a:srgbClr val="B8DCD4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B8DCD4"/>
                </a:solidFill>
              </a:defRPr>
            </a:pPr>
            <a:r>
              <a:rPr sz="1800" b="0">
                <a:solidFill>
                  <a:srgbClr val="B8DCD4"/>
                </a:solidFill>
              </a:rPr>
              <a:t>先確認商品可售，再依查詢與行為資料產生推薦</a:t>
            </a:r>
            <a:endParaRPr sz="1800" b="0">
              <a:solidFill>
                <a:srgbClr val="B8DCD4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CD9D0"/>
                </a:solidFill>
              </a:defRPr>
            </a:defPPr>
            <a:lvl1pPr algn="l">
              <a:buNone/>
              <a:defRPr sz="1200" b="0">
                <a:solidFill>
                  <a:srgbClr val="BCD9D0"/>
                </a:solidFill>
              </a:defRPr>
            </a:lvl1pPr>
            <a:lvl2pPr algn="l">
              <a:buNone/>
              <a:defRPr sz="1200" b="0">
                <a:solidFill>
                  <a:srgbClr val="BCD9D0"/>
                </a:solidFill>
              </a:defRPr>
            </a:lvl2pPr>
            <a:lvl3pPr algn="l">
              <a:buNone/>
              <a:defRPr sz="1200" b="0">
                <a:solidFill>
                  <a:srgbClr val="BCD9D0"/>
                </a:solidFill>
              </a:defRPr>
            </a:lvl3pPr>
            <a:lvl4pPr algn="l">
              <a:buNone/>
              <a:defRPr sz="1200" b="0">
                <a:solidFill>
                  <a:srgbClr val="BCD9D0"/>
                </a:solidFill>
              </a:defRPr>
            </a:lvl4pPr>
            <a:lvl5pPr algn="l">
              <a:buNone/>
              <a:defRPr sz="1200" b="0">
                <a:solidFill>
                  <a:srgbClr val="BCD9D0"/>
                </a:solidFill>
              </a:defRPr>
            </a:lvl5pPr>
            <a:lvl6pPr algn="l">
              <a:buNone/>
              <a:defRPr sz="1200" b="0">
                <a:solidFill>
                  <a:srgbClr val="BCD9D0"/>
                </a:solidFill>
              </a:defRPr>
            </a:lvl6pPr>
            <a:lvl7pPr algn="l">
              <a:buNone/>
              <a:defRPr sz="1200" b="0">
                <a:solidFill>
                  <a:srgbClr val="BCD9D0"/>
                </a:solidFill>
              </a:defRPr>
            </a:lvl7pPr>
            <a:lvl8pPr algn="l">
              <a:buNone/>
              <a:defRPr sz="1200" b="0">
                <a:solidFill>
                  <a:srgbClr val="BCD9D0"/>
                </a:solidFill>
              </a:defRPr>
            </a:lvl8pPr>
            <a:lvl9pPr algn="l">
              <a:buNone/>
              <a:defRPr sz="1200" b="0">
                <a:solidFill>
                  <a:srgbClr val="BCD9D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BCD9D0"/>
                </a:solidFill>
              </a:defRPr>
            </a:pPr>
            <a:r>
              <a:rPr sz="1200" b="0">
                <a:solidFill>
                  <a:srgbClr val="BCD9D0"/>
                </a:solidFill>
              </a:rPr>
              <a:t>VibeCart AI</a:t>
            </a:r>
            <a:endParaRPr sz="1200" b="0">
              <a:solidFill>
                <a:srgbClr val="BCD9D0"/>
              </a:solidFill>
            </a:endParaRPr>
          </a:p>
        </p:txBody>
      </p:sp>
      <p:sp>
        <p:nvSpPr>
          <p:cNvPr id="4" name="08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38C5CD"/>
                </a:solidFill>
              </a:defRPr>
            </a:defPPr>
            <a:lvl1pPr algn="l">
              <a:buNone/>
              <a:defRPr sz="1350" b="1">
                <a:solidFill>
                  <a:srgbClr val="38C5CD"/>
                </a:solidFill>
              </a:defRPr>
            </a:lvl1pPr>
            <a:lvl2pPr algn="l">
              <a:buNone/>
              <a:defRPr sz="1350" b="1">
                <a:solidFill>
                  <a:srgbClr val="38C5CD"/>
                </a:solidFill>
              </a:defRPr>
            </a:lvl2pPr>
            <a:lvl3pPr algn="l">
              <a:buNone/>
              <a:defRPr sz="1350" b="1">
                <a:solidFill>
                  <a:srgbClr val="38C5CD"/>
                </a:solidFill>
              </a:defRPr>
            </a:lvl3pPr>
            <a:lvl4pPr algn="l">
              <a:buNone/>
              <a:defRPr sz="1350" b="1">
                <a:solidFill>
                  <a:srgbClr val="38C5CD"/>
                </a:solidFill>
              </a:defRPr>
            </a:lvl4pPr>
            <a:lvl5pPr algn="l">
              <a:buNone/>
              <a:defRPr sz="1350" b="1">
                <a:solidFill>
                  <a:srgbClr val="38C5CD"/>
                </a:solidFill>
              </a:defRPr>
            </a:lvl5pPr>
            <a:lvl6pPr algn="l">
              <a:buNone/>
              <a:defRPr sz="1350" b="1">
                <a:solidFill>
                  <a:srgbClr val="38C5CD"/>
                </a:solidFill>
              </a:defRPr>
            </a:lvl6pPr>
            <a:lvl7pPr algn="l">
              <a:buNone/>
              <a:defRPr sz="1350" b="1">
                <a:solidFill>
                  <a:srgbClr val="38C5CD"/>
                </a:solidFill>
              </a:defRPr>
            </a:lvl7pPr>
            <a:lvl8pPr algn="l">
              <a:buNone/>
              <a:defRPr sz="1350" b="1">
                <a:solidFill>
                  <a:srgbClr val="38C5CD"/>
                </a:solidFill>
              </a:defRPr>
            </a:lvl8pPr>
            <a:lvl9pPr algn="l">
              <a:buNone/>
              <a:defRPr sz="1350" b="1">
                <a:solidFill>
                  <a:srgbClr val="38C5CD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38C5CD"/>
                </a:solidFill>
              </a:defRPr>
            </a:pPr>
            <a:r>
              <a:rPr sz="1350" b="1">
                <a:solidFill>
                  <a:srgbClr val="38C5CD"/>
                </a:solidFill>
              </a:rPr>
              <a:t>08</a:t>
            </a:r>
            <a:endParaRPr sz="1350" b="1">
              <a:solidFill>
                <a:srgbClr val="38C5CD"/>
              </a:solidFill>
            </a:endParaRPr>
          </a:p>
        </p:txBody>
      </p:sp>
      <p:sp>
        <p:nvSpPr>
          <p:cNvPr id="5" name="有效商品與可購庫存"/>
          <p:cNvSpPr>
            <a:spLocks noGrp="1"/>
          </p:cNvSpPr>
          <p:nvPr/>
        </p:nvSpPr>
        <p:spPr>
          <a:xfrm>
            <a:off x="619125" y="2076450"/>
            <a:ext cx="5143500" cy="6667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有效商品與可購庫存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6" name="規則基線與冷啟動"/>
          <p:cNvSpPr>
            <a:spLocks noGrp="1"/>
          </p:cNvSpPr>
          <p:nvPr/>
        </p:nvSpPr>
        <p:spPr>
          <a:xfrm>
            <a:off x="619125" y="3133725"/>
            <a:ext cx="5143500" cy="6667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規則基線與冷啟動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7" name="BGE 語意相似排序"/>
          <p:cNvSpPr>
            <a:spLocks noGrp="1"/>
          </p:cNvSpPr>
          <p:nvPr/>
        </p:nvSpPr>
        <p:spPr>
          <a:xfrm>
            <a:off x="619125" y="4191000"/>
            <a:ext cx="5143500" cy="666750"/>
          </a:xfrm>
          <a:prstGeom prst="rect">
            <a:avLst/>
          </a:prstGeom>
          <a:solidFill>
            <a:srgbClr val="224653"/>
          </a:solidFill>
          <a:ln w="12383">
            <a:solidFill>
              <a:srgbClr val="467682"/>
            </a:solidFill>
          </a:ln>
        </p:spPr>
        <p:txBody>
          <a:bodyPr lIns="114300" tIns="114300" rIns="114300" bIns="114300" anchor="ctr"/>
          <a:lstStyle>
            <a:defPPr algn="ctr">
              <a:defRPr sz="1800" b="1">
                <a:solidFill>
                  <a:srgbClr val="FFFFFF"/>
                </a:solidFill>
              </a:defRPr>
            </a:defPPr>
            <a:lvl1pPr algn="ctr">
              <a:buNone/>
              <a:defRPr sz="1800" b="1">
                <a:solidFill>
                  <a:srgbClr val="FFFFFF"/>
                </a:solidFill>
              </a:defRPr>
            </a:lvl1pPr>
            <a:lvl2pPr algn="ctr">
              <a:buNone/>
              <a:defRPr sz="1800" b="1">
                <a:solidFill>
                  <a:srgbClr val="FFFFFF"/>
                </a:solidFill>
              </a:defRPr>
            </a:lvl2pPr>
            <a:lvl3pPr algn="ctr">
              <a:buNone/>
              <a:defRPr sz="1800" b="1">
                <a:solidFill>
                  <a:srgbClr val="FFFFFF"/>
                </a:solidFill>
              </a:defRPr>
            </a:lvl3pPr>
            <a:lvl4pPr algn="ctr">
              <a:buNone/>
              <a:defRPr sz="1800" b="1">
                <a:solidFill>
                  <a:srgbClr val="FFFFFF"/>
                </a:solidFill>
              </a:defRPr>
            </a:lvl4pPr>
            <a:lvl5pPr algn="ctr">
              <a:buNone/>
              <a:defRPr sz="1800" b="1">
                <a:solidFill>
                  <a:srgbClr val="FFFFFF"/>
                </a:solidFill>
              </a:defRPr>
            </a:lvl5pPr>
            <a:lvl6pPr algn="ctr">
              <a:buNone/>
              <a:defRPr sz="1800" b="1">
                <a:solidFill>
                  <a:srgbClr val="FFFFFF"/>
                </a:solidFill>
              </a:defRPr>
            </a:lvl6pPr>
            <a:lvl7pPr algn="ctr">
              <a:buNone/>
              <a:defRPr sz="1800" b="1">
                <a:solidFill>
                  <a:srgbClr val="FFFFFF"/>
                </a:solidFill>
              </a:defRPr>
            </a:lvl7pPr>
            <a:lvl8pPr algn="ctr">
              <a:buNone/>
              <a:defRPr sz="1800" b="1">
                <a:solidFill>
                  <a:srgbClr val="FFFFFF"/>
                </a:solidFill>
              </a:defRPr>
            </a:lvl8pPr>
            <a:lvl9pPr algn="ctr"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BGE 語意相似排序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0" name="使用者看得懂的理由"/>
          <p:cNvSpPr>
            <a:spLocks noGrp="1"/>
          </p:cNvSpPr>
          <p:nvPr/>
        </p:nvSpPr>
        <p:spPr>
          <a:xfrm>
            <a:off x="6429375" y="2124075"/>
            <a:ext cx="5143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</a:defRPr>
            </a:defPPr>
            <a:lvl1pPr algn="l">
              <a:buNone/>
              <a:defRPr sz="2400" b="1">
                <a:solidFill>
                  <a:srgbClr val="FFFFFF"/>
                </a:solidFill>
              </a:defRPr>
            </a:lvl1pPr>
            <a:lvl2pPr algn="l">
              <a:buNone/>
              <a:defRPr sz="2400" b="1">
                <a:solidFill>
                  <a:srgbClr val="FFFFFF"/>
                </a:solidFill>
              </a:defRPr>
            </a:lvl2pPr>
            <a:lvl3pPr algn="l">
              <a:buNone/>
              <a:defRPr sz="2400" b="1">
                <a:solidFill>
                  <a:srgbClr val="FFFFFF"/>
                </a:solidFill>
              </a:defRPr>
            </a:lvl3pPr>
            <a:lvl4pPr algn="l">
              <a:buNone/>
              <a:defRPr sz="2400" b="1">
                <a:solidFill>
                  <a:srgbClr val="FFFFFF"/>
                </a:solidFill>
              </a:defRPr>
            </a:lvl4pPr>
            <a:lvl5pPr algn="l">
              <a:buNone/>
              <a:defRPr sz="2400" b="1">
                <a:solidFill>
                  <a:srgbClr val="FFFFFF"/>
                </a:solidFill>
              </a:defRPr>
            </a:lvl5pPr>
            <a:lvl6pPr algn="l">
              <a:buNone/>
              <a:defRPr sz="2400" b="1">
                <a:solidFill>
                  <a:srgbClr val="FFFFFF"/>
                </a:solidFill>
              </a:defRPr>
            </a:lvl6pPr>
            <a:lvl7pPr algn="l">
              <a:buNone/>
              <a:defRPr sz="2400" b="1">
                <a:solidFill>
                  <a:srgbClr val="FFFFFF"/>
                </a:solidFill>
              </a:defRPr>
            </a:lvl7pPr>
            <a:lvl8pPr algn="l">
              <a:buNone/>
              <a:defRPr sz="2400" b="1">
                <a:solidFill>
                  <a:srgbClr val="FFFFFF"/>
                </a:solidFill>
              </a:defRPr>
            </a:lvl8pPr>
            <a:lvl9pPr algn="l">
              <a:buNone/>
              <a:defRPr sz="2400" b="1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使用者看得懂的理由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1" name="搜尋文字優先&#10;沒有搜尋時參考最近商品行為&#10;無歷史資料"/>
          <p:cNvSpPr>
            <a:spLocks noGrp="1"/>
          </p:cNvSpPr>
          <p:nvPr/>
        </p:nvSpPr>
        <p:spPr>
          <a:xfrm>
            <a:off x="6429375" y="2762250"/>
            <a:ext cx="5143500" cy="1609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D8EAE5"/>
                </a:solidFill>
              </a:defRPr>
            </a:defPPr>
            <a:lvl1pPr algn="l">
              <a:buNone/>
              <a:defRPr sz="2025" b="0">
                <a:solidFill>
                  <a:srgbClr val="D8EAE5"/>
                </a:solidFill>
              </a:defRPr>
            </a:lvl1pPr>
            <a:lvl2pPr algn="l">
              <a:buNone/>
              <a:defRPr sz="2025" b="0">
                <a:solidFill>
                  <a:srgbClr val="D8EAE5"/>
                </a:solidFill>
              </a:defRPr>
            </a:lvl2pPr>
            <a:lvl3pPr algn="l">
              <a:buNone/>
              <a:defRPr sz="2025" b="0">
                <a:solidFill>
                  <a:srgbClr val="D8EAE5"/>
                </a:solidFill>
              </a:defRPr>
            </a:lvl3pPr>
            <a:lvl4pPr algn="l">
              <a:buNone/>
              <a:defRPr sz="2025" b="0">
                <a:solidFill>
                  <a:srgbClr val="D8EAE5"/>
                </a:solidFill>
              </a:defRPr>
            </a:lvl4pPr>
            <a:lvl5pPr algn="l">
              <a:buNone/>
              <a:defRPr sz="2025" b="0">
                <a:solidFill>
                  <a:srgbClr val="D8EAE5"/>
                </a:solidFill>
              </a:defRPr>
            </a:lvl5pPr>
            <a:lvl6pPr algn="l">
              <a:buNone/>
              <a:defRPr sz="2025" b="0">
                <a:solidFill>
                  <a:srgbClr val="D8EAE5"/>
                </a:solidFill>
              </a:defRPr>
            </a:lvl6pPr>
            <a:lvl7pPr algn="l">
              <a:buNone/>
              <a:defRPr sz="2025" b="0">
                <a:solidFill>
                  <a:srgbClr val="D8EAE5"/>
                </a:solidFill>
              </a:defRPr>
            </a:lvl7pPr>
            <a:lvl8pPr algn="l">
              <a:buNone/>
              <a:defRPr sz="2025" b="0">
                <a:solidFill>
                  <a:srgbClr val="D8EAE5"/>
                </a:solidFill>
              </a:defRPr>
            </a:lvl8pPr>
            <a:lvl9pPr algn="l">
              <a:buNone/>
              <a:defRPr sz="2025" b="0">
                <a:solidFill>
                  <a:srgbClr val="D8EAE5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D8EAE5"/>
                </a:solidFill>
              </a:defRPr>
            </a:pPr>
            <a:r>
              <a:rPr sz="2025" b="0">
                <a:solidFill>
                  <a:srgbClr val="D8EAE5"/>
                </a:solidFill>
              </a:rPr>
              <a:t>搜尋文字優先</a:t>
            </a:r>
            <a:endParaRPr sz="2025" b="0">
              <a:solidFill>
                <a:srgbClr val="D8EAE5"/>
              </a:solidFill>
            </a:endParaRPr>
          </a:p>
          <a:p>
            <a:pPr algn="l">
              <a:buNone/>
              <a:defRPr sz="2025" b="0">
                <a:solidFill>
                  <a:srgbClr val="D8EAE5"/>
                </a:solidFill>
              </a:defRPr>
            </a:pPr>
            <a:r>
              <a:rPr sz="2025" b="0">
                <a:solidFill>
                  <a:srgbClr val="D8EAE5"/>
                </a:solidFill>
              </a:rPr>
              <a:t>沒有搜尋時參考最近商品行為</a:t>
            </a:r>
            <a:endParaRPr sz="2025" b="0">
              <a:solidFill>
                <a:srgbClr val="D8EAE5"/>
              </a:solidFill>
            </a:endParaRPr>
          </a:p>
          <a:p>
            <a:pPr algn="l">
              <a:buNone/>
              <a:defRPr sz="2025" b="0">
                <a:solidFill>
                  <a:srgbClr val="D8EAE5"/>
                </a:solidFill>
              </a:defRPr>
            </a:pPr>
            <a:r>
              <a:rPr sz="2025" b="0">
                <a:solidFill>
                  <a:srgbClr val="D8EAE5"/>
                </a:solidFill>
              </a:rPr>
              <a:t>無歷史資料採規則推薦</a:t>
            </a:r>
            <a:endParaRPr sz="2025" b="0">
              <a:solidFill>
                <a:srgbClr val="D8EAE5"/>
              </a:solidFill>
            </a:endParaRPr>
          </a:p>
        </p:txBody>
      </p:sp>
      <p:sp>
        <p:nvSpPr>
          <p:cNvPr id="12" name="模型狀態"/>
          <p:cNvSpPr>
            <a:spLocks noGrp="1"/>
          </p:cNvSpPr>
          <p:nvPr/>
        </p:nvSpPr>
        <p:spPr>
          <a:xfrm>
            <a:off x="6429375" y="4648200"/>
            <a:ext cx="5143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38C5CD"/>
                </a:solidFill>
              </a:defRPr>
            </a:defPPr>
            <a:lvl1pPr algn="l">
              <a:buNone/>
              <a:defRPr sz="2400" b="1">
                <a:solidFill>
                  <a:srgbClr val="38C5CD"/>
                </a:solidFill>
              </a:defRPr>
            </a:lvl1pPr>
            <a:lvl2pPr algn="l">
              <a:buNone/>
              <a:defRPr sz="2400" b="1">
                <a:solidFill>
                  <a:srgbClr val="38C5CD"/>
                </a:solidFill>
              </a:defRPr>
            </a:lvl2pPr>
            <a:lvl3pPr algn="l">
              <a:buNone/>
              <a:defRPr sz="2400" b="1">
                <a:solidFill>
                  <a:srgbClr val="38C5CD"/>
                </a:solidFill>
              </a:defRPr>
            </a:lvl3pPr>
            <a:lvl4pPr algn="l">
              <a:buNone/>
              <a:defRPr sz="2400" b="1">
                <a:solidFill>
                  <a:srgbClr val="38C5CD"/>
                </a:solidFill>
              </a:defRPr>
            </a:lvl4pPr>
            <a:lvl5pPr algn="l">
              <a:buNone/>
              <a:defRPr sz="2400" b="1">
                <a:solidFill>
                  <a:srgbClr val="38C5CD"/>
                </a:solidFill>
              </a:defRPr>
            </a:lvl5pPr>
            <a:lvl6pPr algn="l">
              <a:buNone/>
              <a:defRPr sz="2400" b="1">
                <a:solidFill>
                  <a:srgbClr val="38C5CD"/>
                </a:solidFill>
              </a:defRPr>
            </a:lvl6pPr>
            <a:lvl7pPr algn="l">
              <a:buNone/>
              <a:defRPr sz="2400" b="1">
                <a:solidFill>
                  <a:srgbClr val="38C5CD"/>
                </a:solidFill>
              </a:defRPr>
            </a:lvl7pPr>
            <a:lvl8pPr algn="l">
              <a:buNone/>
              <a:defRPr sz="2400" b="1">
                <a:solidFill>
                  <a:srgbClr val="38C5CD"/>
                </a:solidFill>
              </a:defRPr>
            </a:lvl8pPr>
            <a:lvl9pPr algn="l">
              <a:buNone/>
              <a:defRPr sz="2400" b="1">
                <a:solidFill>
                  <a:srgbClr val="38C5CD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38C5CD"/>
                </a:solidFill>
              </a:defRPr>
            </a:pPr>
            <a:r>
              <a:rPr sz="2400" b="1">
                <a:solidFill>
                  <a:srgbClr val="38C5CD"/>
                </a:solidFill>
              </a:rPr>
              <a:t>模型狀態</a:t>
            </a:r>
            <a:endParaRPr sz="2400" b="1">
              <a:solidFill>
                <a:srgbClr val="38C5CD"/>
              </a:solidFill>
            </a:endParaRPr>
          </a:p>
        </p:txBody>
      </p:sp>
      <p:sp>
        <p:nvSpPr>
          <p:cNvPr id="13" name="正式 BGE 啟用與品質量測待驗收"/>
          <p:cNvSpPr>
            <a:spLocks noGrp="1"/>
          </p:cNvSpPr>
          <p:nvPr/>
        </p:nvSpPr>
        <p:spPr>
          <a:xfrm>
            <a:off x="6429375" y="5257800"/>
            <a:ext cx="51435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FFFFFF"/>
                </a:solidFill>
              </a:defRPr>
            </a:defPPr>
            <a:lvl1pPr algn="l">
              <a:buNone/>
              <a:defRPr sz="2025" b="0">
                <a:solidFill>
                  <a:srgbClr val="FFFFFF"/>
                </a:solidFill>
              </a:defRPr>
            </a:lvl1pPr>
            <a:lvl2pPr algn="l">
              <a:buNone/>
              <a:defRPr sz="2025" b="0">
                <a:solidFill>
                  <a:srgbClr val="FFFFFF"/>
                </a:solidFill>
              </a:defRPr>
            </a:lvl2pPr>
            <a:lvl3pPr algn="l">
              <a:buNone/>
              <a:defRPr sz="2025" b="0">
                <a:solidFill>
                  <a:srgbClr val="FFFFFF"/>
                </a:solidFill>
              </a:defRPr>
            </a:lvl3pPr>
            <a:lvl4pPr algn="l">
              <a:buNone/>
              <a:defRPr sz="2025" b="0">
                <a:solidFill>
                  <a:srgbClr val="FFFFFF"/>
                </a:solidFill>
              </a:defRPr>
            </a:lvl4pPr>
            <a:lvl5pPr algn="l">
              <a:buNone/>
              <a:defRPr sz="2025" b="0">
                <a:solidFill>
                  <a:srgbClr val="FFFFFF"/>
                </a:solidFill>
              </a:defRPr>
            </a:lvl5pPr>
            <a:lvl6pPr algn="l">
              <a:buNone/>
              <a:defRPr sz="2025" b="0">
                <a:solidFill>
                  <a:srgbClr val="FFFFFF"/>
                </a:solidFill>
              </a:defRPr>
            </a:lvl6pPr>
            <a:lvl7pPr algn="l">
              <a:buNone/>
              <a:defRPr sz="2025" b="0">
                <a:solidFill>
                  <a:srgbClr val="FFFFFF"/>
                </a:solidFill>
              </a:defRPr>
            </a:lvl7pPr>
            <a:lvl8pPr algn="l">
              <a:buNone/>
              <a:defRPr sz="2025" b="0">
                <a:solidFill>
                  <a:srgbClr val="FFFFFF"/>
                </a:solidFill>
              </a:defRPr>
            </a:lvl8pPr>
            <a:lvl9pPr algn="l">
              <a:buNone/>
              <a:defRPr sz="2025" b="0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正式 BGE 啟用與品質量測待驗收</a:t>
            </a:r>
            <a:endParaRPr sz="2025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營運總覽與資料口徑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營運總覽與資料口徑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管理者使用同一期間、同一示範範圍核對數字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管理者使用同一期間、同一示範範圍核對數字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09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09</a:t>
            </a:r>
            <a:endParaRPr sz="1350" b="1">
              <a:solidFill>
                <a:srgbClr val="14634B"/>
              </a:solidFill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19125" y="2028825"/>
          <a:ext cx="10953750" cy="3343278"/>
        </p:xfrm>
        <a:graphic>
          <a:graphicData uri="http://schemas.openxmlformats.org/drawingml/2006/table">
            <a:tbl>
              <a:tblPr/>
              <a:tblGrid>
                <a:gridCol w="2952750"/>
                <a:gridCol w="8001000"/>
              </a:tblGrid>
              <a:tr h="55721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指標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計算與呈現方式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</a:tr>
              <a:tr h="5572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有效營收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已付款且未取消訂單的金額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有效／全部訂單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兩者套用相同日期與示範篩選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5572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平均客單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有效營收除以有效訂單數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熱銷商品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相同範圍內的有效銷售數量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5572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低庫存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目前可用數量與安全庫存的比較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I 摘要使用伺服器彙總資料；模型輸出保留人工核對"/>
          <p:cNvSpPr>
            <a:spLocks noGrp="1"/>
          </p:cNvSpPr>
          <p:nvPr/>
        </p:nvSpPr>
        <p:spPr>
          <a:xfrm>
            <a:off x="619125" y="5743575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100" b="1">
                <a:solidFill>
                  <a:srgbClr val="14634B"/>
                </a:solidFill>
              </a:defRPr>
            </a:defPPr>
            <a:lvl1pPr algn="l">
              <a:buNone/>
              <a:defRPr sz="2100" b="1">
                <a:solidFill>
                  <a:srgbClr val="14634B"/>
                </a:solidFill>
              </a:defRPr>
            </a:lvl1pPr>
            <a:lvl2pPr algn="l">
              <a:buNone/>
              <a:defRPr sz="2100" b="1">
                <a:solidFill>
                  <a:srgbClr val="14634B"/>
                </a:solidFill>
              </a:defRPr>
            </a:lvl2pPr>
            <a:lvl3pPr algn="l">
              <a:buNone/>
              <a:defRPr sz="2100" b="1">
                <a:solidFill>
                  <a:srgbClr val="14634B"/>
                </a:solidFill>
              </a:defRPr>
            </a:lvl3pPr>
            <a:lvl4pPr algn="l">
              <a:buNone/>
              <a:defRPr sz="2100" b="1">
                <a:solidFill>
                  <a:srgbClr val="14634B"/>
                </a:solidFill>
              </a:defRPr>
            </a:lvl4pPr>
            <a:lvl5pPr algn="l">
              <a:buNone/>
              <a:defRPr sz="2100" b="1">
                <a:solidFill>
                  <a:srgbClr val="14634B"/>
                </a:solidFill>
              </a:defRPr>
            </a:lvl5pPr>
            <a:lvl6pPr algn="l">
              <a:buNone/>
              <a:defRPr sz="2100" b="1">
                <a:solidFill>
                  <a:srgbClr val="14634B"/>
                </a:solidFill>
              </a:defRPr>
            </a:lvl6pPr>
            <a:lvl7pPr algn="l">
              <a:buNone/>
              <a:defRPr sz="2100" b="1">
                <a:solidFill>
                  <a:srgbClr val="14634B"/>
                </a:solidFill>
              </a:defRPr>
            </a:lvl7pPr>
            <a:lvl8pPr algn="l">
              <a:buNone/>
              <a:defRPr sz="2100" b="1">
                <a:solidFill>
                  <a:srgbClr val="14634B"/>
                </a:solidFill>
              </a:defRPr>
            </a:lvl8pPr>
            <a:lvl9pPr algn="l">
              <a:buNone/>
              <a:defRPr sz="21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100" b="1">
                <a:solidFill>
                  <a:srgbClr val="14634B"/>
                </a:solidFill>
              </a:defRPr>
            </a:pPr>
            <a:r>
              <a:rPr sz="2100" b="1">
                <a:solidFill>
                  <a:srgbClr val="14634B"/>
                </a:solidFill>
              </a:rPr>
              <a:t>AI 摘要使用伺服器彙總資料；模型輸出保留人工核對</a:t>
            </a:r>
            <a:endParaRPr sz="2100" b="1">
              <a:solidFill>
                <a:srgbClr val="14634B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規則、BGE 與 Claude 的分工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規則、BGE 與 Claude 的分工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比較用途、資料範圍與可量測結果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比較用途、資料範圍與可量測結果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10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10</a:t>
            </a:r>
            <a:endParaRPr sz="1350" b="1">
              <a:solidFill>
                <a:srgbClr val="14634B"/>
              </a:solidFill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19125" y="2047875"/>
          <a:ext cx="10953750" cy="2686052"/>
        </p:xfrm>
        <a:graphic>
          <a:graphicData uri="http://schemas.openxmlformats.org/drawingml/2006/table">
            <a:tbl>
              <a:tblPr/>
              <a:tblGrid>
                <a:gridCol w="1714500"/>
                <a:gridCol w="4191000"/>
                <a:gridCol w="5048250"/>
              </a:tblGrid>
              <a:tr h="67151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方法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主要用途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限制與驗證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規則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冷啟動推薦與數字摘要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邏輯可核對，無語意推論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BGE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商品文字向量與相似排序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需模型權重與相關性量測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Claude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依白名單彙總解讀營運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</a:rPr>
                        <a:t>需真實呼叫與內容核對</a:t>
                      </a:r>
                      <a:endParaRPr sz="1725" b="0">
                        <a:solidFill>
                          <a:srgbClr val="17342E"/>
                        </a:solidFill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量測欄位"/>
          <p:cNvSpPr>
            <a:spLocks noGrp="1"/>
          </p:cNvSpPr>
          <p:nvPr/>
        </p:nvSpPr>
        <p:spPr>
          <a:xfrm>
            <a:off x="619125" y="50863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250" b="1">
                <a:solidFill>
                  <a:srgbClr val="14634B"/>
                </a:solidFill>
              </a:defRPr>
            </a:defPPr>
            <a:lvl1pPr algn="l">
              <a:buNone/>
              <a:defRPr sz="2250" b="1">
                <a:solidFill>
                  <a:srgbClr val="14634B"/>
                </a:solidFill>
              </a:defRPr>
            </a:lvl1pPr>
            <a:lvl2pPr algn="l">
              <a:buNone/>
              <a:defRPr sz="2250" b="1">
                <a:solidFill>
                  <a:srgbClr val="14634B"/>
                </a:solidFill>
              </a:defRPr>
            </a:lvl2pPr>
            <a:lvl3pPr algn="l">
              <a:buNone/>
              <a:defRPr sz="2250" b="1">
                <a:solidFill>
                  <a:srgbClr val="14634B"/>
                </a:solidFill>
              </a:defRPr>
            </a:lvl3pPr>
            <a:lvl4pPr algn="l">
              <a:buNone/>
              <a:defRPr sz="2250" b="1">
                <a:solidFill>
                  <a:srgbClr val="14634B"/>
                </a:solidFill>
              </a:defRPr>
            </a:lvl4pPr>
            <a:lvl5pPr algn="l">
              <a:buNone/>
              <a:defRPr sz="2250" b="1">
                <a:solidFill>
                  <a:srgbClr val="14634B"/>
                </a:solidFill>
              </a:defRPr>
            </a:lvl5pPr>
            <a:lvl6pPr algn="l">
              <a:buNone/>
              <a:defRPr sz="2250" b="1">
                <a:solidFill>
                  <a:srgbClr val="14634B"/>
                </a:solidFill>
              </a:defRPr>
            </a:lvl6pPr>
            <a:lvl7pPr algn="l">
              <a:buNone/>
              <a:defRPr sz="2250" b="1">
                <a:solidFill>
                  <a:srgbClr val="14634B"/>
                </a:solidFill>
              </a:defRPr>
            </a:lvl7pPr>
            <a:lvl8pPr algn="l">
              <a:buNone/>
              <a:defRPr sz="2250" b="1">
                <a:solidFill>
                  <a:srgbClr val="14634B"/>
                </a:solidFill>
              </a:defRPr>
            </a:lvl8pPr>
            <a:lvl9pPr algn="l">
              <a:buNone/>
              <a:defRPr sz="22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4634B"/>
                </a:solidFill>
              </a:defRPr>
            </a:pPr>
            <a:r>
              <a:rPr sz="2250" b="1">
                <a:solidFill>
                  <a:srgbClr val="14634B"/>
                </a:solidFill>
              </a:rPr>
              <a:t>量測欄位</a:t>
            </a:r>
            <a:endParaRPr sz="2250" b="1">
              <a:solidFill>
                <a:srgbClr val="14634B"/>
              </a:solidFill>
            </a:endParaRPr>
          </a:p>
        </p:txBody>
      </p:sp>
      <p:sp>
        <p:nvSpPr>
          <p:cNvPr id="7" name="模型版本、輸入範圍、成功呼叫耗時、token 與退回"/>
          <p:cNvSpPr>
            <a:spLocks noGrp="1"/>
          </p:cNvSpPr>
          <p:nvPr/>
        </p:nvSpPr>
        <p:spPr>
          <a:xfrm>
            <a:off x="619125" y="5629275"/>
            <a:ext cx="10953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模型版本、輸入範圍、成功呼叫耗時、token 與退回原因</a:t>
            </a:r>
            <a:endParaRPr sz="2025" b="0">
              <a:solidFill>
                <a:srgbClr val="17342E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部署與測試證據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部署與測試證據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2" name="公開路由、本機交易測試與手機驗收各自留證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公開路由、本機交易測試與手機驗收各自留證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3" name="VibeCart AI"/>
          <p:cNvSpPr>
            <a:spLocks noGrp="1"/>
          </p:cNvSpPr>
          <p:nvPr/>
        </p:nvSpPr>
        <p:spPr>
          <a:xfrm>
            <a:off x="609600" y="6457950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VibeCart AI</a:t>
            </a:r>
            <a:endParaRPr sz="1200" b="0">
              <a:solidFill>
                <a:srgbClr val="536760"/>
              </a:solidFill>
            </a:endParaRPr>
          </a:p>
        </p:txBody>
      </p:sp>
      <p:sp>
        <p:nvSpPr>
          <p:cNvPr id="4" name="11"/>
          <p:cNvSpPr>
            <a:spLocks noGrp="1"/>
          </p:cNvSpPr>
          <p:nvPr/>
        </p:nvSpPr>
        <p:spPr>
          <a:xfrm>
            <a:off x="11096625" y="643890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</a:defRPr>
            </a:defPPr>
            <a:lvl1pPr algn="l">
              <a:buNone/>
              <a:defRPr sz="1350" b="1">
                <a:solidFill>
                  <a:srgbClr val="14634B"/>
                </a:solidFill>
              </a:defRPr>
            </a:lvl1pPr>
            <a:lvl2pPr algn="l">
              <a:buNone/>
              <a:defRPr sz="1350" b="1">
                <a:solidFill>
                  <a:srgbClr val="14634B"/>
                </a:solidFill>
              </a:defRPr>
            </a:lvl2pPr>
            <a:lvl3pPr algn="l">
              <a:buNone/>
              <a:defRPr sz="1350" b="1">
                <a:solidFill>
                  <a:srgbClr val="14634B"/>
                </a:solidFill>
              </a:defRPr>
            </a:lvl3pPr>
            <a:lvl4pPr algn="l">
              <a:buNone/>
              <a:defRPr sz="1350" b="1">
                <a:solidFill>
                  <a:srgbClr val="14634B"/>
                </a:solidFill>
              </a:defRPr>
            </a:lvl4pPr>
            <a:lvl5pPr algn="l">
              <a:buNone/>
              <a:defRPr sz="1350" b="1">
                <a:solidFill>
                  <a:srgbClr val="14634B"/>
                </a:solidFill>
              </a:defRPr>
            </a:lvl5pPr>
            <a:lvl6pPr algn="l">
              <a:buNone/>
              <a:defRPr sz="1350" b="1">
                <a:solidFill>
                  <a:srgbClr val="14634B"/>
                </a:solidFill>
              </a:defRPr>
            </a:lvl6pPr>
            <a:lvl7pPr algn="l">
              <a:buNone/>
              <a:defRPr sz="1350" b="1">
                <a:solidFill>
                  <a:srgbClr val="14634B"/>
                </a:solidFill>
              </a:defRPr>
            </a:lvl7pPr>
            <a:lvl8pPr algn="l">
              <a:buNone/>
              <a:defRPr sz="1350" b="1">
                <a:solidFill>
                  <a:srgbClr val="14634B"/>
                </a:solidFill>
              </a:defRPr>
            </a:lvl8pPr>
            <a:lvl9pPr algn="l">
              <a:buNone/>
              <a:defRPr sz="13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350" b="1">
                <a:solidFill>
                  <a:srgbClr val="14634B"/>
                </a:solidFill>
              </a:defRPr>
            </a:pPr>
            <a:r>
              <a:rPr sz="1350" b="1">
                <a:solidFill>
                  <a:srgbClr val="14634B"/>
                </a:solidFill>
              </a:rPr>
              <a:t>11</a:t>
            </a:r>
            <a:endParaRPr sz="1350" b="1">
              <a:solidFill>
                <a:srgbClr val="14634B"/>
              </a:solidFill>
            </a:endParaRPr>
          </a:p>
        </p:txBody>
      </p:sp>
      <p:sp>
        <p:nvSpPr>
          <p:cNvPr id="5" name="186 passed / 0 skipped"/>
          <p:cNvSpPr>
            <a:spLocks noGrp="1"/>
          </p:cNvSpPr>
          <p:nvPr/>
        </p:nvSpPr>
        <p:spPr>
          <a:xfrm>
            <a:off x="619125" y="2047875"/>
            <a:ext cx="8001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600" b="1">
                <a:solidFill>
                  <a:srgbClr val="14634B"/>
                </a:solidFill>
              </a:defRPr>
            </a:defPPr>
            <a:lvl1pPr algn="l">
              <a:buNone/>
              <a:defRPr sz="3600" b="1">
                <a:solidFill>
                  <a:srgbClr val="14634B"/>
                </a:solidFill>
              </a:defRPr>
            </a:lvl1pPr>
            <a:lvl2pPr algn="l">
              <a:buNone/>
              <a:defRPr sz="3600" b="1">
                <a:solidFill>
                  <a:srgbClr val="14634B"/>
                </a:solidFill>
              </a:defRPr>
            </a:lvl2pPr>
            <a:lvl3pPr algn="l">
              <a:buNone/>
              <a:defRPr sz="3600" b="1">
                <a:solidFill>
                  <a:srgbClr val="14634B"/>
                </a:solidFill>
              </a:defRPr>
            </a:lvl3pPr>
            <a:lvl4pPr algn="l">
              <a:buNone/>
              <a:defRPr sz="3600" b="1">
                <a:solidFill>
                  <a:srgbClr val="14634B"/>
                </a:solidFill>
              </a:defRPr>
            </a:lvl4pPr>
            <a:lvl5pPr algn="l">
              <a:buNone/>
              <a:defRPr sz="3600" b="1">
                <a:solidFill>
                  <a:srgbClr val="14634B"/>
                </a:solidFill>
              </a:defRPr>
            </a:lvl5pPr>
            <a:lvl6pPr algn="l">
              <a:buNone/>
              <a:defRPr sz="3600" b="1">
                <a:solidFill>
                  <a:srgbClr val="14634B"/>
                </a:solidFill>
              </a:defRPr>
            </a:lvl6pPr>
            <a:lvl7pPr algn="l">
              <a:buNone/>
              <a:defRPr sz="3600" b="1">
                <a:solidFill>
                  <a:srgbClr val="14634B"/>
                </a:solidFill>
              </a:defRPr>
            </a:lvl7pPr>
            <a:lvl8pPr algn="l">
              <a:buNone/>
              <a:defRPr sz="3600" b="1">
                <a:solidFill>
                  <a:srgbClr val="14634B"/>
                </a:solidFill>
              </a:defRPr>
            </a:lvl8pPr>
            <a:lvl9pPr algn="l">
              <a:buNone/>
              <a:defRPr sz="36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3600" b="1">
                <a:solidFill>
                  <a:srgbClr val="14634B"/>
                </a:solidFill>
              </a:defRPr>
            </a:pPr>
            <a:r>
              <a:rPr sz="3600" b="1">
                <a:solidFill>
                  <a:srgbClr val="14634B"/>
                </a:solidFill>
              </a:rPr>
              <a:t>186 passed / 0 skipped</a:t>
            </a:r>
            <a:endParaRPr sz="3600" b="1">
              <a:solidFill>
                <a:srgbClr val="14634B"/>
              </a:solidFill>
            </a:endParaRPr>
          </a:p>
        </p:txBody>
      </p:sp>
      <p:sp>
        <p:nvSpPr>
          <p:cNvPr id="6" name="同版本機隔離資料庫測試，涵蓋回滾與庫存併發"/>
          <p:cNvSpPr>
            <a:spLocks noGrp="1"/>
          </p:cNvSpPr>
          <p:nvPr/>
        </p:nvSpPr>
        <p:spPr>
          <a:xfrm>
            <a:off x="619125" y="2895600"/>
            <a:ext cx="79533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同版本機隔離資料庫測試，涵蓋回滾與庫存併發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7" name="1,240 筆 D4 合成事件"/>
          <p:cNvSpPr>
            <a:spLocks noGrp="1"/>
          </p:cNvSpPr>
          <p:nvPr/>
        </p:nvSpPr>
        <p:spPr>
          <a:xfrm>
            <a:off x="619125" y="3752850"/>
            <a:ext cx="8001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775" b="1">
                <a:solidFill>
                  <a:srgbClr val="14634B"/>
                </a:solidFill>
              </a:defRPr>
            </a:defPPr>
            <a:lvl1pPr algn="l">
              <a:buNone/>
              <a:defRPr sz="2775" b="1">
                <a:solidFill>
                  <a:srgbClr val="14634B"/>
                </a:solidFill>
              </a:defRPr>
            </a:lvl1pPr>
            <a:lvl2pPr algn="l">
              <a:buNone/>
              <a:defRPr sz="2775" b="1">
                <a:solidFill>
                  <a:srgbClr val="14634B"/>
                </a:solidFill>
              </a:defRPr>
            </a:lvl2pPr>
            <a:lvl3pPr algn="l">
              <a:buNone/>
              <a:defRPr sz="2775" b="1">
                <a:solidFill>
                  <a:srgbClr val="14634B"/>
                </a:solidFill>
              </a:defRPr>
            </a:lvl3pPr>
            <a:lvl4pPr algn="l">
              <a:buNone/>
              <a:defRPr sz="2775" b="1">
                <a:solidFill>
                  <a:srgbClr val="14634B"/>
                </a:solidFill>
              </a:defRPr>
            </a:lvl4pPr>
            <a:lvl5pPr algn="l">
              <a:buNone/>
              <a:defRPr sz="2775" b="1">
                <a:solidFill>
                  <a:srgbClr val="14634B"/>
                </a:solidFill>
              </a:defRPr>
            </a:lvl5pPr>
            <a:lvl6pPr algn="l">
              <a:buNone/>
              <a:defRPr sz="2775" b="1">
                <a:solidFill>
                  <a:srgbClr val="14634B"/>
                </a:solidFill>
              </a:defRPr>
            </a:lvl6pPr>
            <a:lvl7pPr algn="l">
              <a:buNone/>
              <a:defRPr sz="2775" b="1">
                <a:solidFill>
                  <a:srgbClr val="14634B"/>
                </a:solidFill>
              </a:defRPr>
            </a:lvl7pPr>
            <a:lvl8pPr algn="l">
              <a:buNone/>
              <a:defRPr sz="2775" b="1">
                <a:solidFill>
                  <a:srgbClr val="14634B"/>
                </a:solidFill>
              </a:defRPr>
            </a:lvl8pPr>
            <a:lvl9pPr algn="l">
              <a:buNone/>
              <a:defRPr sz="2775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775" b="1">
                <a:solidFill>
                  <a:srgbClr val="14634B"/>
                </a:solidFill>
              </a:defRPr>
            </a:pPr>
            <a:r>
              <a:rPr sz="2775" b="1">
                <a:solidFill>
                  <a:srgbClr val="14634B"/>
                </a:solidFill>
              </a:rPr>
              <a:t>1,240 筆 D4 合成事件</a:t>
            </a:r>
            <a:endParaRPr sz="2775" b="1">
              <a:solidFill>
                <a:srgbClr val="14634B"/>
              </a:solidFill>
            </a:endParaRPr>
          </a:p>
        </p:txBody>
      </p:sp>
      <p:sp>
        <p:nvSpPr>
          <p:cNvPr id="8" name="缺漏 0，重送新增 0，排除歸因漏標 0"/>
          <p:cNvSpPr>
            <a:spLocks noGrp="1"/>
          </p:cNvSpPr>
          <p:nvPr/>
        </p:nvSpPr>
        <p:spPr>
          <a:xfrm>
            <a:off x="619125" y="4467225"/>
            <a:ext cx="8001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缺漏 0，重送新增 0，排除歸因漏標 0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9" name="Firebase Hosting / Cloud R"/>
          <p:cNvSpPr>
            <a:spLocks noGrp="1"/>
          </p:cNvSpPr>
          <p:nvPr/>
        </p:nvSpPr>
        <p:spPr>
          <a:xfrm>
            <a:off x="619125" y="5372100"/>
            <a:ext cx="8001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100" b="1">
                <a:solidFill>
                  <a:srgbClr val="122D3A"/>
                </a:solidFill>
              </a:defRPr>
            </a:defPPr>
            <a:lvl1pPr algn="l">
              <a:buNone/>
              <a:defRPr sz="2100" b="1">
                <a:solidFill>
                  <a:srgbClr val="122D3A"/>
                </a:solidFill>
              </a:defRPr>
            </a:lvl1pPr>
            <a:lvl2pPr algn="l">
              <a:buNone/>
              <a:defRPr sz="2100" b="1">
                <a:solidFill>
                  <a:srgbClr val="122D3A"/>
                </a:solidFill>
              </a:defRPr>
            </a:lvl2pPr>
            <a:lvl3pPr algn="l">
              <a:buNone/>
              <a:defRPr sz="2100" b="1">
                <a:solidFill>
                  <a:srgbClr val="122D3A"/>
                </a:solidFill>
              </a:defRPr>
            </a:lvl3pPr>
            <a:lvl4pPr algn="l">
              <a:buNone/>
              <a:defRPr sz="2100" b="1">
                <a:solidFill>
                  <a:srgbClr val="122D3A"/>
                </a:solidFill>
              </a:defRPr>
            </a:lvl4pPr>
            <a:lvl5pPr algn="l">
              <a:buNone/>
              <a:defRPr sz="2100" b="1">
                <a:solidFill>
                  <a:srgbClr val="122D3A"/>
                </a:solidFill>
              </a:defRPr>
            </a:lvl5pPr>
            <a:lvl6pPr algn="l">
              <a:buNone/>
              <a:defRPr sz="2100" b="1">
                <a:solidFill>
                  <a:srgbClr val="122D3A"/>
                </a:solidFill>
              </a:defRPr>
            </a:lvl6pPr>
            <a:lvl7pPr algn="l">
              <a:buNone/>
              <a:defRPr sz="2100" b="1">
                <a:solidFill>
                  <a:srgbClr val="122D3A"/>
                </a:solidFill>
              </a:defRPr>
            </a:lvl7pPr>
            <a:lvl8pPr algn="l">
              <a:buNone/>
              <a:defRPr sz="2100" b="1">
                <a:solidFill>
                  <a:srgbClr val="122D3A"/>
                </a:solidFill>
              </a:defRPr>
            </a:lvl8pPr>
            <a:lvl9pPr algn="l">
              <a:buNone/>
              <a:defRPr sz="2100" b="1">
                <a:solidFill>
                  <a:srgbClr val="122D3A"/>
                </a:solidFill>
              </a:defRPr>
            </a:lvl9pPr>
          </a:lstStyle>
          <a:p>
            <a:pPr algn="l">
              <a:buNone/>
              <a:defRPr sz="2100" b="1">
                <a:solidFill>
                  <a:srgbClr val="122D3A"/>
                </a:solidFill>
              </a:defRPr>
            </a:pPr>
            <a:r>
              <a:rPr sz="2100" b="1">
                <a:solidFill>
                  <a:srgbClr val="122D3A"/>
                </a:solidFill>
              </a:rPr>
              <a:t>Firebase Hosting / Cloud Run / Atlas</a:t>
            </a:r>
            <a:endParaRPr sz="2100" b="1">
              <a:solidFill>
                <a:srgbClr val="122D3A"/>
              </a:solidFill>
            </a:endParaRPr>
          </a:p>
        </p:txBody>
      </p:sp>
      <p:sp>
        <p:nvSpPr>
          <p:cNvPr id="10" name="完整正式角色、交易與手機實機驗收待補"/>
          <p:cNvSpPr>
            <a:spLocks noGrp="1"/>
          </p:cNvSpPr>
          <p:nvPr/>
        </p:nvSpPr>
        <p:spPr>
          <a:xfrm>
            <a:off x="619125" y="5905500"/>
            <a:ext cx="8001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完整正式角色、交易與手機實機驗收待補</a:t>
            </a:r>
            <a:endParaRPr sz="1800" b="0">
              <a:solidFill>
                <a:srgbClr val="536760"/>
              </a:solidFill>
            </a:endParaRPr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7798" y="1857375"/>
            <a:ext cx="1929828" cy="4343400"/>
          </a:xfrm>
          <a:prstGeom prst="rect">
            <a:avLst/>
          </a:prstGeom>
        </p:spPr>
      </p:pic>
      <p:sp>
        <p:nvSpPr>
          <p:cNvPr id="12" name="390×844 瀏覽器窄視窗"/>
          <p:cNvSpPr>
            <a:spLocks noGrp="1"/>
          </p:cNvSpPr>
          <p:nvPr/>
        </p:nvSpPr>
        <p:spPr>
          <a:xfrm>
            <a:off x="9048750" y="6219825"/>
            <a:ext cx="266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</a:defRPr>
            </a:defPPr>
            <a:lvl1pPr algn="l">
              <a:buNone/>
              <a:defRPr sz="1200" b="0">
                <a:solidFill>
                  <a:srgbClr val="536760"/>
                </a:solidFill>
              </a:defRPr>
            </a:lvl1pPr>
            <a:lvl2pPr algn="l">
              <a:buNone/>
              <a:defRPr sz="1200" b="0">
                <a:solidFill>
                  <a:srgbClr val="536760"/>
                </a:solidFill>
              </a:defRPr>
            </a:lvl2pPr>
            <a:lvl3pPr algn="l">
              <a:buNone/>
              <a:defRPr sz="1200" b="0">
                <a:solidFill>
                  <a:srgbClr val="536760"/>
                </a:solidFill>
              </a:defRPr>
            </a:lvl3pPr>
            <a:lvl4pPr algn="l">
              <a:buNone/>
              <a:defRPr sz="1200" b="0">
                <a:solidFill>
                  <a:srgbClr val="536760"/>
                </a:solidFill>
              </a:defRPr>
            </a:lvl4pPr>
            <a:lvl5pPr algn="l">
              <a:buNone/>
              <a:defRPr sz="1200" b="0">
                <a:solidFill>
                  <a:srgbClr val="536760"/>
                </a:solidFill>
              </a:defRPr>
            </a:lvl5pPr>
            <a:lvl6pPr algn="l">
              <a:buNone/>
              <a:defRPr sz="1200" b="0">
                <a:solidFill>
                  <a:srgbClr val="536760"/>
                </a:solidFill>
              </a:defRPr>
            </a:lvl6pPr>
            <a:lvl7pPr algn="l">
              <a:buNone/>
              <a:defRPr sz="1200" b="0">
                <a:solidFill>
                  <a:srgbClr val="536760"/>
                </a:solidFill>
              </a:defRPr>
            </a:lvl7pPr>
            <a:lvl8pPr algn="l">
              <a:buNone/>
              <a:defRPr sz="1200" b="0">
                <a:solidFill>
                  <a:srgbClr val="536760"/>
                </a:solidFill>
              </a:defRPr>
            </a:lvl8pPr>
            <a:lvl9pPr algn="l">
              <a:buNone/>
              <a:defRPr sz="12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200" b="0">
                <a:solidFill>
                  <a:srgbClr val="536760"/>
                </a:solidFill>
              </a:defRPr>
            </a:pPr>
            <a:r>
              <a:rPr sz="1200" b="0">
                <a:solidFill>
                  <a:srgbClr val="536760"/>
                </a:solidFill>
              </a:rPr>
              <a:t>390×844 瀏覽器窄視窗</a:t>
            </a:r>
            <a:endParaRPr sz="1200" b="0">
              <a:solidFill>
                <a:srgbClr val="53676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下一階段工作項目</a:t>
            </a:r>
            <a:endParaRPr sz="3300" b="1">
              <a:solidFill>
                <a:srgbClr val="17342E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功能擴充與交付前驗收分開呈現</a:t>
            </a:r>
            <a:endParaRPr sz="18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19125" y="2038350"/>
          <a:ext cx="10953750" cy="3314700"/>
        </p:xfrm>
        <a:graphic>
          <a:graphicData uri="http://schemas.openxmlformats.org/drawingml/2006/table">
            <a:tbl>
              <a:tblPr/>
              <a:tblGrid>
                <a:gridCol w="1714500"/>
                <a:gridCol w="4619625"/>
                <a:gridCol w="4619625"/>
              </a:tblGrid>
              <a:tr h="8286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工作面向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下一階段功能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目前界線與前置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AI 應用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BGE 語意推薦、Claude 營運洞察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與受控自由提問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正式啟用與真模型驗收待補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先完成依賴、配置及品質量測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管理後台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商品／SKU、訂單與會員維護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180 天稽核與操作重送防重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D5 待實作與權限驗收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先定義寫入契約及資料遷移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交易擴充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金流串接、付款成功回呼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與物流／配送狀態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後續擴充提案，範圍待確認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目前示範結帳無真實收款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19125" y="56578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交付前仍須完成</a:t>
            </a:r>
            <a:endParaRPr sz="2025" b="1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19125" y="6096000"/>
            <a:ext cx="10953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正式同版角色與交易驗收、手機實機操作、備份復原及最終簽收</a:t>
            </a:r>
            <a:endParaRPr sz="18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6524625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VibeCart AI</a:t>
            </a:r>
            <a:endParaRPr sz="12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096625" y="65055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12</a:t>
            </a:r>
            <a:endParaRPr sz="1350" b="1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3300" b="1">
                <a:solidFill>
                  <a:srgbClr val="17342E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下一階段工作項目</a:t>
            </a:r>
            <a:endParaRPr sz="3300" b="1">
              <a:solidFill>
                <a:srgbClr val="17342E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功能擴充與交付前驗收分開呈現</a:t>
            </a:r>
            <a:endParaRPr sz="18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19125" y="2038350"/>
          <a:ext cx="10953750" cy="3314700"/>
        </p:xfrm>
        <a:graphic>
          <a:graphicData uri="http://schemas.openxmlformats.org/drawingml/2006/table">
            <a:tbl>
              <a:tblPr/>
              <a:tblGrid>
                <a:gridCol w="1714500"/>
                <a:gridCol w="4619625"/>
                <a:gridCol w="4619625"/>
              </a:tblGrid>
              <a:tr h="8286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工作面向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下一階段功能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目前界線與前置</a:t>
                      </a:r>
                      <a:endParaRPr sz="1725" b="1">
                        <a:solidFill>
                          <a:srgbClr val="FFFFFF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T w="9525">
                      <a:solidFill>
                        <a:srgbClr val="D5DED6"/>
                      </a:solidFill>
                    </a:lnT>
                    <a:lnB w="9525">
                      <a:solidFill>
                        <a:srgbClr val="D5DED6"/>
                      </a:solidFill>
                    </a:lnB>
                    <a:solidFill>
                      <a:srgbClr val="14634B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AI 應用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BGE 語意推薦、Claude 營運洞察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與受控自由提問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正式啟用與真模型驗收待補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先完成依賴、配置及品質量測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管理後台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商品／SKU、訂單與會員維護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180 天稽核與操作重送防重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D5 待實作與權限驗收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先定義寫入契約及資料遷移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ECF1EC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交易擴充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D5DED6"/>
                      </a:solidFill>
                    </a:lnL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金流串接、付款成功回呼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與物流／配送狀態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後續擴充提案，範圍待確認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  <a:p>
                      <a:r>
                        <a:rPr sz="1725" b="0">
                          <a:solidFill>
                            <a:srgbClr val="17342E"/>
                          </a:solidFill>
                          <a:latin typeface="微軟正黑體" panose="020B0604030504040204" charset="-120"/>
                          <a:ea typeface="微軟正黑體" panose="020B0604030504040204" charset="-120"/>
                          <a:cs typeface="微軟正黑體" panose="020B0604030504040204" charset="-120"/>
                        </a:rPr>
                        <a:t>目前示範結帳無真實收款</a:t>
                      </a:r>
                      <a:endParaRPr sz="1725" b="0">
                        <a:solidFill>
                          <a:srgbClr val="17342E"/>
                        </a:solidFill>
                        <a:latin typeface="微軟正黑體" panose="020B0604030504040204" charset="-120"/>
                        <a:ea typeface="微軟正黑體" panose="020B0604030504040204" charset="-120"/>
                        <a:cs typeface="微軟正黑體" panose="020B0604030504040204" charset="-120"/>
                      </a:endParaRPr>
                    </a:p>
                  </a:txBody>
                  <a:tcPr marL="114300" marR="114300" marT="114300" marB="114300" anchor="ctr">
                    <a:lnR w="9525">
                      <a:solidFill>
                        <a:srgbClr val="D5DED6"/>
                      </a:solidFill>
                    </a:lnR>
                    <a:lnB w="9525">
                      <a:solidFill>
                        <a:srgbClr val="D5DE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19125" y="56578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2025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交付前仍須完成</a:t>
            </a:r>
            <a:endParaRPr sz="2025" b="1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19125" y="6096000"/>
            <a:ext cx="10953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8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正式同版角色與交易驗收、手機實機操作、備份復原及最終簽收</a:t>
            </a:r>
            <a:endParaRPr sz="18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6524625"/>
            <a:ext cx="4572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200" b="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VibeCart AI</a:t>
            </a:r>
            <a:endParaRPr sz="1200" b="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096625" y="65055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defPPr>
            <a:lvl1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1pPr>
            <a:lvl2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2pPr>
            <a:lvl3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3pPr>
            <a:lvl4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4pPr>
            <a:lvl5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5pPr>
            <a:lvl6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6pPr>
            <a:lvl7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7pPr>
            <a:lvl8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8pPr>
            <a:lvl9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lvl9pPr>
          </a:lstStyle>
          <a:p>
            <a:pPr algn="l">
              <a:def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defRPr>
            </a:pPr>
            <a:r>
              <a:rPr sz="1350" b="1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</a:rPr>
              <a:t>12</a:t>
            </a:r>
            <a:endParaRPr sz="1350" b="1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圖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浮水印淡化遮罩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84000"/>
            </a:srgbClr>
          </a:solidFill>
          <a:ln w="0">
            <a:noFill/>
          </a:ln>
        </p:spPr>
      </p:sp>
      <p:sp>
        <p:nvSpPr>
          <p:cNvPr id="3" name="成果、團隊與後續工作"/>
          <p:cNvSpPr>
            <a:spLocks noGrp="1"/>
          </p:cNvSpPr>
          <p:nvPr/>
        </p:nvSpPr>
        <p:spPr>
          <a:xfrm>
            <a:off x="609600" y="4667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3300" b="1">
                <a:solidFill>
                  <a:srgbClr val="17342E"/>
                </a:solidFill>
              </a:defRPr>
            </a:defPPr>
            <a:lvl1pPr algn="l">
              <a:buNone/>
              <a:defRPr sz="3300" b="1">
                <a:solidFill>
                  <a:srgbClr val="17342E"/>
                </a:solidFill>
              </a:defRPr>
            </a:lvl1pPr>
            <a:lvl2pPr algn="l">
              <a:buNone/>
              <a:defRPr sz="3300" b="1">
                <a:solidFill>
                  <a:srgbClr val="17342E"/>
                </a:solidFill>
              </a:defRPr>
            </a:lvl2pPr>
            <a:lvl3pPr algn="l">
              <a:buNone/>
              <a:defRPr sz="3300" b="1">
                <a:solidFill>
                  <a:srgbClr val="17342E"/>
                </a:solidFill>
              </a:defRPr>
            </a:lvl3pPr>
            <a:lvl4pPr algn="l">
              <a:buNone/>
              <a:defRPr sz="3300" b="1">
                <a:solidFill>
                  <a:srgbClr val="17342E"/>
                </a:solidFill>
              </a:defRPr>
            </a:lvl4pPr>
            <a:lvl5pPr algn="l">
              <a:buNone/>
              <a:defRPr sz="3300" b="1">
                <a:solidFill>
                  <a:srgbClr val="17342E"/>
                </a:solidFill>
              </a:defRPr>
            </a:lvl5pPr>
            <a:lvl6pPr algn="l">
              <a:buNone/>
              <a:defRPr sz="3300" b="1">
                <a:solidFill>
                  <a:srgbClr val="17342E"/>
                </a:solidFill>
              </a:defRPr>
            </a:lvl6pPr>
            <a:lvl7pPr algn="l">
              <a:buNone/>
              <a:defRPr sz="3300" b="1">
                <a:solidFill>
                  <a:srgbClr val="17342E"/>
                </a:solidFill>
              </a:defRPr>
            </a:lvl7pPr>
            <a:lvl8pPr algn="l">
              <a:buNone/>
              <a:defRPr sz="3300" b="1">
                <a:solidFill>
                  <a:srgbClr val="17342E"/>
                </a:solidFill>
              </a:defRPr>
            </a:lvl8pPr>
            <a:lvl9pPr algn="l">
              <a:buNone/>
              <a:defRPr sz="3300" b="1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3300" b="1">
                <a:solidFill>
                  <a:srgbClr val="17342E"/>
                </a:solidFill>
              </a:defRPr>
            </a:pPr>
            <a:r>
              <a:rPr sz="3300" b="1">
                <a:solidFill>
                  <a:srgbClr val="17342E"/>
                </a:solidFill>
              </a:rPr>
              <a:t>成果、團隊與後續工作</a:t>
            </a:r>
            <a:endParaRPr sz="3300" b="1">
              <a:solidFill>
                <a:srgbClr val="17342E"/>
              </a:solidFill>
            </a:endParaRPr>
          </a:p>
        </p:txBody>
      </p:sp>
      <p:sp>
        <p:nvSpPr>
          <p:cNvPr id="4" name="已交付的資料、流程與證據，持續補足正式驗收"/>
          <p:cNvSpPr>
            <a:spLocks noGrp="1"/>
          </p:cNvSpPr>
          <p:nvPr/>
        </p:nvSpPr>
        <p:spPr>
          <a:xfrm>
            <a:off x="628650" y="1219200"/>
            <a:ext cx="10953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800" b="0">
                <a:solidFill>
                  <a:srgbClr val="536760"/>
                </a:solidFill>
              </a:defRPr>
            </a:defPPr>
            <a:lvl1pPr algn="l">
              <a:buNone/>
              <a:defRPr sz="1800" b="0">
                <a:solidFill>
                  <a:srgbClr val="536760"/>
                </a:solidFill>
              </a:defRPr>
            </a:lvl1pPr>
            <a:lvl2pPr algn="l">
              <a:buNone/>
              <a:defRPr sz="1800" b="0">
                <a:solidFill>
                  <a:srgbClr val="536760"/>
                </a:solidFill>
              </a:defRPr>
            </a:lvl2pPr>
            <a:lvl3pPr algn="l">
              <a:buNone/>
              <a:defRPr sz="1800" b="0">
                <a:solidFill>
                  <a:srgbClr val="536760"/>
                </a:solidFill>
              </a:defRPr>
            </a:lvl3pPr>
            <a:lvl4pPr algn="l">
              <a:buNone/>
              <a:defRPr sz="1800" b="0">
                <a:solidFill>
                  <a:srgbClr val="536760"/>
                </a:solidFill>
              </a:defRPr>
            </a:lvl4pPr>
            <a:lvl5pPr algn="l">
              <a:buNone/>
              <a:defRPr sz="1800" b="0">
                <a:solidFill>
                  <a:srgbClr val="536760"/>
                </a:solidFill>
              </a:defRPr>
            </a:lvl5pPr>
            <a:lvl6pPr algn="l">
              <a:buNone/>
              <a:defRPr sz="1800" b="0">
                <a:solidFill>
                  <a:srgbClr val="536760"/>
                </a:solidFill>
              </a:defRPr>
            </a:lvl6pPr>
            <a:lvl7pPr algn="l">
              <a:buNone/>
              <a:defRPr sz="1800" b="0">
                <a:solidFill>
                  <a:srgbClr val="536760"/>
                </a:solidFill>
              </a:defRPr>
            </a:lvl7pPr>
            <a:lvl8pPr algn="l">
              <a:buNone/>
              <a:defRPr sz="1800" b="0">
                <a:solidFill>
                  <a:srgbClr val="536760"/>
                </a:solidFill>
              </a:defRPr>
            </a:lvl8pPr>
            <a:lvl9pPr algn="l">
              <a:buNone/>
              <a:defRPr sz="180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800" b="0">
                <a:solidFill>
                  <a:srgbClr val="536760"/>
                </a:solidFill>
              </a:defRPr>
            </a:pPr>
            <a:r>
              <a:rPr sz="1800" b="0">
                <a:solidFill>
                  <a:srgbClr val="536760"/>
                </a:solidFill>
              </a:rPr>
              <a:t>已交付的資料、流程與證據，持續補足正式驗收</a:t>
            </a:r>
            <a:endParaRPr sz="1800" b="0">
              <a:solidFill>
                <a:srgbClr val="536760"/>
              </a:solidFill>
            </a:endParaRPr>
          </a:p>
        </p:txBody>
      </p:sp>
      <p:sp>
        <p:nvSpPr>
          <p:cNvPr id="5" name="目前成果"/>
          <p:cNvSpPr>
            <a:spLocks noGrp="1"/>
          </p:cNvSpPr>
          <p:nvPr/>
        </p:nvSpPr>
        <p:spPr>
          <a:xfrm>
            <a:off x="619125" y="2038350"/>
            <a:ext cx="5048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目前成果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6" name="商品／SKU 與網站資料對帳&#10;購物服務與本機交易測試"/>
          <p:cNvSpPr>
            <a:spLocks noGrp="1"/>
          </p:cNvSpPr>
          <p:nvPr/>
        </p:nvSpPr>
        <p:spPr>
          <a:xfrm>
            <a:off x="619125" y="2638425"/>
            <a:ext cx="5095875" cy="1495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商品／SKU 與網站資料對帳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購物服務與本機交易測試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D4 合成事件與重送驗證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7" name="下一步"/>
          <p:cNvSpPr>
            <a:spLocks noGrp="1"/>
          </p:cNvSpPr>
          <p:nvPr/>
        </p:nvSpPr>
        <p:spPr>
          <a:xfrm>
            <a:off x="6381750" y="2038350"/>
            <a:ext cx="5191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14634B"/>
                </a:solidFill>
              </a:defRPr>
            </a:defPPr>
            <a:lvl1pPr algn="l">
              <a:buNone/>
              <a:defRPr sz="2400" b="1">
                <a:solidFill>
                  <a:srgbClr val="14634B"/>
                </a:solidFill>
              </a:defRPr>
            </a:lvl1pPr>
            <a:lvl2pPr algn="l">
              <a:buNone/>
              <a:defRPr sz="2400" b="1">
                <a:solidFill>
                  <a:srgbClr val="14634B"/>
                </a:solidFill>
              </a:defRPr>
            </a:lvl2pPr>
            <a:lvl3pPr algn="l">
              <a:buNone/>
              <a:defRPr sz="2400" b="1">
                <a:solidFill>
                  <a:srgbClr val="14634B"/>
                </a:solidFill>
              </a:defRPr>
            </a:lvl3pPr>
            <a:lvl4pPr algn="l">
              <a:buNone/>
              <a:defRPr sz="2400" b="1">
                <a:solidFill>
                  <a:srgbClr val="14634B"/>
                </a:solidFill>
              </a:defRPr>
            </a:lvl4pPr>
            <a:lvl5pPr algn="l">
              <a:buNone/>
              <a:defRPr sz="2400" b="1">
                <a:solidFill>
                  <a:srgbClr val="14634B"/>
                </a:solidFill>
              </a:defRPr>
            </a:lvl5pPr>
            <a:lvl6pPr algn="l">
              <a:buNone/>
              <a:defRPr sz="2400" b="1">
                <a:solidFill>
                  <a:srgbClr val="14634B"/>
                </a:solidFill>
              </a:defRPr>
            </a:lvl6pPr>
            <a:lvl7pPr algn="l">
              <a:buNone/>
              <a:defRPr sz="2400" b="1">
                <a:solidFill>
                  <a:srgbClr val="14634B"/>
                </a:solidFill>
              </a:defRPr>
            </a:lvl7pPr>
            <a:lvl8pPr algn="l">
              <a:buNone/>
              <a:defRPr sz="2400" b="1">
                <a:solidFill>
                  <a:srgbClr val="14634B"/>
                </a:solidFill>
              </a:defRPr>
            </a:lvl8pPr>
            <a:lvl9pPr algn="l">
              <a:buNone/>
              <a:defRPr sz="240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400" b="1">
                <a:solidFill>
                  <a:srgbClr val="14634B"/>
                </a:solidFill>
              </a:defRPr>
            </a:pPr>
            <a:r>
              <a:rPr sz="2400" b="1">
                <a:solidFill>
                  <a:srgbClr val="14634B"/>
                </a:solidFill>
              </a:rPr>
              <a:t>下一步</a:t>
            </a:r>
            <a:endParaRPr sz="2400" b="1">
              <a:solidFill>
                <a:srgbClr val="14634B"/>
              </a:solidFill>
            </a:endParaRPr>
          </a:p>
        </p:txBody>
      </p:sp>
      <p:sp>
        <p:nvSpPr>
          <p:cNvPr id="8" name="正式同版會員與交易驗收&#10;真模型、D5 後台寫入與稽核"/>
          <p:cNvSpPr>
            <a:spLocks noGrp="1"/>
          </p:cNvSpPr>
          <p:nvPr/>
        </p:nvSpPr>
        <p:spPr>
          <a:xfrm>
            <a:off x="6381750" y="2638425"/>
            <a:ext cx="5191125" cy="1495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7342E"/>
                </a:solidFill>
              </a:defRPr>
            </a:defPPr>
            <a:lvl1pPr algn="l">
              <a:buNone/>
              <a:defRPr sz="2025" b="0">
                <a:solidFill>
                  <a:srgbClr val="17342E"/>
                </a:solidFill>
              </a:defRPr>
            </a:lvl1pPr>
            <a:lvl2pPr algn="l">
              <a:buNone/>
              <a:defRPr sz="2025" b="0">
                <a:solidFill>
                  <a:srgbClr val="17342E"/>
                </a:solidFill>
              </a:defRPr>
            </a:lvl2pPr>
            <a:lvl3pPr algn="l">
              <a:buNone/>
              <a:defRPr sz="2025" b="0">
                <a:solidFill>
                  <a:srgbClr val="17342E"/>
                </a:solidFill>
              </a:defRPr>
            </a:lvl3pPr>
            <a:lvl4pPr algn="l">
              <a:buNone/>
              <a:defRPr sz="2025" b="0">
                <a:solidFill>
                  <a:srgbClr val="17342E"/>
                </a:solidFill>
              </a:defRPr>
            </a:lvl4pPr>
            <a:lvl5pPr algn="l">
              <a:buNone/>
              <a:defRPr sz="2025" b="0">
                <a:solidFill>
                  <a:srgbClr val="17342E"/>
                </a:solidFill>
              </a:defRPr>
            </a:lvl5pPr>
            <a:lvl6pPr algn="l">
              <a:buNone/>
              <a:defRPr sz="2025" b="0">
                <a:solidFill>
                  <a:srgbClr val="17342E"/>
                </a:solidFill>
              </a:defRPr>
            </a:lvl6pPr>
            <a:lvl7pPr algn="l">
              <a:buNone/>
              <a:defRPr sz="2025" b="0">
                <a:solidFill>
                  <a:srgbClr val="17342E"/>
                </a:solidFill>
              </a:defRPr>
            </a:lvl7pPr>
            <a:lvl8pPr algn="l">
              <a:buNone/>
              <a:defRPr sz="2025" b="0">
                <a:solidFill>
                  <a:srgbClr val="17342E"/>
                </a:solidFill>
              </a:defRPr>
            </a:lvl8pPr>
            <a:lvl9pPr algn="l">
              <a:buNone/>
              <a:defRPr sz="2025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正式同版會員與交易驗收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真模型、D5 後台寫入與稽核</a:t>
            </a:r>
            <a:endParaRPr sz="2025" b="0">
              <a:solidFill>
                <a:srgbClr val="17342E"/>
              </a:solidFill>
            </a:endParaRPr>
          </a:p>
          <a:p>
            <a:pPr algn="l">
              <a:buNone/>
              <a:defRPr sz="2025" b="0">
                <a:solidFill>
                  <a:srgbClr val="17342E"/>
                </a:solidFill>
              </a:defRPr>
            </a:pPr>
            <a:r>
              <a:rPr sz="2025" b="0">
                <a:solidFill>
                  <a:srgbClr val="17342E"/>
                </a:solidFill>
              </a:rPr>
              <a:t>跨裝置素材、排練及最終簽收</a:t>
            </a:r>
            <a:endParaRPr sz="2025" b="0">
              <a:solidFill>
                <a:srgbClr val="17342E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4476750"/>
            <a:ext cx="3143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4634B"/>
                </a:solidFill>
              </a:defRPr>
            </a:defPPr>
            <a:lvl1pPr algn="l">
              <a:buNone/>
              <a:defRPr sz="2025" b="0">
                <a:solidFill>
                  <a:srgbClr val="14634B"/>
                </a:solidFill>
              </a:defRPr>
            </a:lvl1pPr>
            <a:lvl2pPr algn="l">
              <a:buNone/>
              <a:defRPr sz="2025" b="0">
                <a:solidFill>
                  <a:srgbClr val="14634B"/>
                </a:solidFill>
              </a:defRPr>
            </a:lvl2pPr>
            <a:lvl3pPr algn="l">
              <a:buNone/>
              <a:defRPr sz="2025" b="0">
                <a:solidFill>
                  <a:srgbClr val="14634B"/>
                </a:solidFill>
              </a:defRPr>
            </a:lvl3pPr>
            <a:lvl4pPr algn="l">
              <a:buNone/>
              <a:defRPr sz="2025" b="0">
                <a:solidFill>
                  <a:srgbClr val="14634B"/>
                </a:solidFill>
              </a:defRPr>
            </a:lvl4pPr>
            <a:lvl5pPr algn="l">
              <a:buNone/>
              <a:defRPr sz="2025" b="0">
                <a:solidFill>
                  <a:srgbClr val="14634B"/>
                </a:solidFill>
              </a:defRPr>
            </a:lvl5pPr>
            <a:lvl6pPr algn="l">
              <a:buNone/>
              <a:defRPr sz="2025" b="0">
                <a:solidFill>
                  <a:srgbClr val="14634B"/>
                </a:solidFill>
              </a:defRPr>
            </a:lvl6pPr>
            <a:lvl7pPr algn="l">
              <a:buNone/>
              <a:defRPr sz="2025" b="0">
                <a:solidFill>
                  <a:srgbClr val="14634B"/>
                </a:solidFill>
              </a:defRPr>
            </a:lvl7pPr>
            <a:lvl8pPr algn="l">
              <a:buNone/>
              <a:defRPr sz="2025" b="0">
                <a:solidFill>
                  <a:srgbClr val="14634B"/>
                </a:solidFill>
              </a:defRPr>
            </a:lvl8pPr>
            <a:lvl9pPr algn="l">
              <a:buNone/>
              <a:defRPr sz="2025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4634B"/>
                </a:solidFill>
              </a:defRPr>
            </a:pPr>
            <a:r>
              <a:rPr sz="2025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2"/>
              </a:rPr>
              <a:t>汪文彥 SAM</a:t>
            </a:r>
            <a:endParaRPr sz="2025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2"/>
            </a:endParaRPr>
          </a:p>
        </p:txBody>
      </p:sp>
      <p:sp>
        <p:nvSpPr>
          <p:cNvPr id="10" name="106084164"/>
          <p:cNvSpPr>
            <a:spLocks noGrp="1"/>
          </p:cNvSpPr>
          <p:nvPr/>
        </p:nvSpPr>
        <p:spPr>
          <a:xfrm>
            <a:off x="619125" y="4914900"/>
            <a:ext cx="333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536760"/>
                </a:solidFill>
              </a:defRPr>
            </a:defPPr>
            <a:lvl1pPr algn="l">
              <a:buNone/>
              <a:defRPr sz="1575" b="0">
                <a:solidFill>
                  <a:srgbClr val="536760"/>
                </a:solidFill>
              </a:defRPr>
            </a:lvl1pPr>
            <a:lvl2pPr algn="l">
              <a:buNone/>
              <a:defRPr sz="1575" b="0">
                <a:solidFill>
                  <a:srgbClr val="536760"/>
                </a:solidFill>
              </a:defRPr>
            </a:lvl2pPr>
            <a:lvl3pPr algn="l">
              <a:buNone/>
              <a:defRPr sz="1575" b="0">
                <a:solidFill>
                  <a:srgbClr val="536760"/>
                </a:solidFill>
              </a:defRPr>
            </a:lvl3pPr>
            <a:lvl4pPr algn="l">
              <a:buNone/>
              <a:defRPr sz="1575" b="0">
                <a:solidFill>
                  <a:srgbClr val="536760"/>
                </a:solidFill>
              </a:defRPr>
            </a:lvl4pPr>
            <a:lvl5pPr algn="l">
              <a:buNone/>
              <a:defRPr sz="1575" b="0">
                <a:solidFill>
                  <a:srgbClr val="536760"/>
                </a:solidFill>
              </a:defRPr>
            </a:lvl5pPr>
            <a:lvl6pPr algn="l">
              <a:buNone/>
              <a:defRPr sz="1575" b="0">
                <a:solidFill>
                  <a:srgbClr val="536760"/>
                </a:solidFill>
              </a:defRPr>
            </a:lvl6pPr>
            <a:lvl7pPr algn="l">
              <a:buNone/>
              <a:defRPr sz="1575" b="0">
                <a:solidFill>
                  <a:srgbClr val="536760"/>
                </a:solidFill>
              </a:defRPr>
            </a:lvl7pPr>
            <a:lvl8pPr algn="l">
              <a:buNone/>
              <a:defRPr sz="1575" b="0">
                <a:solidFill>
                  <a:srgbClr val="536760"/>
                </a:solidFill>
              </a:defRPr>
            </a:lvl8pPr>
            <a:lvl9pPr algn="l">
              <a:buNone/>
              <a:defRPr sz="15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75" b="0">
                <a:solidFill>
                  <a:srgbClr val="536760"/>
                </a:solidFill>
              </a:defRPr>
            </a:pPr>
            <a:r>
              <a:rPr sz="1575" b="0">
                <a:solidFill>
                  <a:srgbClr val="536760"/>
                </a:solidFill>
              </a:rPr>
              <a:t>106084164</a:t>
            </a:r>
            <a:endParaRPr sz="1575" b="0">
              <a:solidFill>
                <a:srgbClr val="53676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19125" y="523875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4634B"/>
                </a:solidFill>
              </a:defRPr>
            </a:defPPr>
            <a:lvl1pPr algn="l">
              <a:buNone/>
              <a:defRPr sz="1500" b="0">
                <a:solidFill>
                  <a:srgbClr val="14634B"/>
                </a:solidFill>
              </a:defRPr>
            </a:lvl1pPr>
            <a:lvl2pPr algn="l">
              <a:buNone/>
              <a:defRPr sz="1500" b="0">
                <a:solidFill>
                  <a:srgbClr val="14634B"/>
                </a:solidFill>
              </a:defRPr>
            </a:lvl2pPr>
            <a:lvl3pPr algn="l">
              <a:buNone/>
              <a:defRPr sz="1500" b="0">
                <a:solidFill>
                  <a:srgbClr val="14634B"/>
                </a:solidFill>
              </a:defRPr>
            </a:lvl3pPr>
            <a:lvl4pPr algn="l">
              <a:buNone/>
              <a:defRPr sz="1500" b="0">
                <a:solidFill>
                  <a:srgbClr val="14634B"/>
                </a:solidFill>
              </a:defRPr>
            </a:lvl4pPr>
            <a:lvl5pPr algn="l">
              <a:buNone/>
              <a:defRPr sz="1500" b="0">
                <a:solidFill>
                  <a:srgbClr val="14634B"/>
                </a:solidFill>
              </a:defRPr>
            </a:lvl5pPr>
            <a:lvl6pPr algn="l">
              <a:buNone/>
              <a:defRPr sz="1500" b="0">
                <a:solidFill>
                  <a:srgbClr val="14634B"/>
                </a:solidFill>
              </a:defRPr>
            </a:lvl6pPr>
            <a:lvl7pPr algn="l">
              <a:buNone/>
              <a:defRPr sz="1500" b="0">
                <a:solidFill>
                  <a:srgbClr val="14634B"/>
                </a:solidFill>
              </a:defRPr>
            </a:lvl7pPr>
            <a:lvl8pPr algn="l">
              <a:buNone/>
              <a:defRPr sz="1500" b="0">
                <a:solidFill>
                  <a:srgbClr val="14634B"/>
                </a:solidFill>
              </a:defRPr>
            </a:lvl8pPr>
            <a:lvl9pPr algn="l">
              <a:buNone/>
              <a:defRPr sz="15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4634B"/>
                </a:solidFill>
              </a:defRPr>
            </a:pPr>
            <a:r>
              <a:rPr sz="15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2"/>
              </a:rPr>
              <a:t>cashsam@gmail.com</a:t>
            </a:r>
            <a:endParaRPr sz="15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2"/>
            </a:endParaRPr>
          </a:p>
        </p:txBody>
      </p:sp>
      <p:sp>
        <p:nvSpPr>
          <p:cNvPr id="12" name="資料庫、測試、整合與交付"/>
          <p:cNvSpPr>
            <a:spLocks noGrp="1"/>
          </p:cNvSpPr>
          <p:nvPr/>
        </p:nvSpPr>
        <p:spPr>
          <a:xfrm>
            <a:off x="619125" y="560070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7342E"/>
                </a:solidFill>
              </a:defRPr>
            </a:defPPr>
            <a:lvl1pPr algn="l">
              <a:buNone/>
              <a:defRPr sz="1500" b="0">
                <a:solidFill>
                  <a:srgbClr val="17342E"/>
                </a:solidFill>
              </a:defRPr>
            </a:lvl1pPr>
            <a:lvl2pPr algn="l">
              <a:buNone/>
              <a:defRPr sz="1500" b="0">
                <a:solidFill>
                  <a:srgbClr val="17342E"/>
                </a:solidFill>
              </a:defRPr>
            </a:lvl2pPr>
            <a:lvl3pPr algn="l">
              <a:buNone/>
              <a:defRPr sz="1500" b="0">
                <a:solidFill>
                  <a:srgbClr val="17342E"/>
                </a:solidFill>
              </a:defRPr>
            </a:lvl3pPr>
            <a:lvl4pPr algn="l">
              <a:buNone/>
              <a:defRPr sz="1500" b="0">
                <a:solidFill>
                  <a:srgbClr val="17342E"/>
                </a:solidFill>
              </a:defRPr>
            </a:lvl4pPr>
            <a:lvl5pPr algn="l">
              <a:buNone/>
              <a:defRPr sz="1500" b="0">
                <a:solidFill>
                  <a:srgbClr val="17342E"/>
                </a:solidFill>
              </a:defRPr>
            </a:lvl5pPr>
            <a:lvl6pPr algn="l">
              <a:buNone/>
              <a:defRPr sz="1500" b="0">
                <a:solidFill>
                  <a:srgbClr val="17342E"/>
                </a:solidFill>
              </a:defRPr>
            </a:lvl6pPr>
            <a:lvl7pPr algn="l">
              <a:buNone/>
              <a:defRPr sz="1500" b="0">
                <a:solidFill>
                  <a:srgbClr val="17342E"/>
                </a:solidFill>
              </a:defRPr>
            </a:lvl7pPr>
            <a:lvl8pPr algn="l">
              <a:buNone/>
              <a:defRPr sz="1500" b="0">
                <a:solidFill>
                  <a:srgbClr val="17342E"/>
                </a:solidFill>
              </a:defRPr>
            </a:lvl8pPr>
            <a:lvl9pPr algn="l">
              <a:buNone/>
              <a:defRPr sz="1500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7342E"/>
                </a:solidFill>
              </a:defRPr>
            </a:pPr>
            <a:r>
              <a:rPr sz="1500" b="0">
                <a:solidFill>
                  <a:srgbClr val="17342E"/>
                </a:solidFill>
              </a:rPr>
              <a:t>資料庫、測試、整合與交付</a:t>
            </a:r>
            <a:endParaRPr sz="1500" b="0">
              <a:solidFill>
                <a:srgbClr val="17342E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333875" y="4476750"/>
            <a:ext cx="3143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4634B"/>
                </a:solidFill>
              </a:defRPr>
            </a:defPPr>
            <a:lvl1pPr algn="l">
              <a:buNone/>
              <a:defRPr sz="2025" b="0">
                <a:solidFill>
                  <a:srgbClr val="14634B"/>
                </a:solidFill>
              </a:defRPr>
            </a:lvl1pPr>
            <a:lvl2pPr algn="l">
              <a:buNone/>
              <a:defRPr sz="2025" b="0">
                <a:solidFill>
                  <a:srgbClr val="14634B"/>
                </a:solidFill>
              </a:defRPr>
            </a:lvl2pPr>
            <a:lvl3pPr algn="l">
              <a:buNone/>
              <a:defRPr sz="2025" b="0">
                <a:solidFill>
                  <a:srgbClr val="14634B"/>
                </a:solidFill>
              </a:defRPr>
            </a:lvl3pPr>
            <a:lvl4pPr algn="l">
              <a:buNone/>
              <a:defRPr sz="2025" b="0">
                <a:solidFill>
                  <a:srgbClr val="14634B"/>
                </a:solidFill>
              </a:defRPr>
            </a:lvl4pPr>
            <a:lvl5pPr algn="l">
              <a:buNone/>
              <a:defRPr sz="2025" b="0">
                <a:solidFill>
                  <a:srgbClr val="14634B"/>
                </a:solidFill>
              </a:defRPr>
            </a:lvl5pPr>
            <a:lvl6pPr algn="l">
              <a:buNone/>
              <a:defRPr sz="2025" b="0">
                <a:solidFill>
                  <a:srgbClr val="14634B"/>
                </a:solidFill>
              </a:defRPr>
            </a:lvl6pPr>
            <a:lvl7pPr algn="l">
              <a:buNone/>
              <a:defRPr sz="2025" b="0">
                <a:solidFill>
                  <a:srgbClr val="14634B"/>
                </a:solidFill>
              </a:defRPr>
            </a:lvl7pPr>
            <a:lvl8pPr algn="l">
              <a:buNone/>
              <a:defRPr sz="2025" b="0">
                <a:solidFill>
                  <a:srgbClr val="14634B"/>
                </a:solidFill>
              </a:defRPr>
            </a:lvl8pPr>
            <a:lvl9pPr algn="l">
              <a:buNone/>
              <a:defRPr sz="2025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4634B"/>
                </a:solidFill>
              </a:defRPr>
            </a:pPr>
            <a:r>
              <a:rPr sz="2025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3"/>
              </a:rPr>
              <a:t>陳仁千 REN</a:t>
            </a:r>
            <a:endParaRPr sz="2025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3"/>
            </a:endParaRPr>
          </a:p>
        </p:txBody>
      </p:sp>
      <p:sp>
        <p:nvSpPr>
          <p:cNvPr id="14" name="105910496"/>
          <p:cNvSpPr>
            <a:spLocks noGrp="1"/>
          </p:cNvSpPr>
          <p:nvPr/>
        </p:nvSpPr>
        <p:spPr>
          <a:xfrm>
            <a:off x="4333875" y="4914900"/>
            <a:ext cx="333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536760"/>
                </a:solidFill>
              </a:defRPr>
            </a:defPPr>
            <a:lvl1pPr algn="l">
              <a:buNone/>
              <a:defRPr sz="1575" b="0">
                <a:solidFill>
                  <a:srgbClr val="536760"/>
                </a:solidFill>
              </a:defRPr>
            </a:lvl1pPr>
            <a:lvl2pPr algn="l">
              <a:buNone/>
              <a:defRPr sz="1575" b="0">
                <a:solidFill>
                  <a:srgbClr val="536760"/>
                </a:solidFill>
              </a:defRPr>
            </a:lvl2pPr>
            <a:lvl3pPr algn="l">
              <a:buNone/>
              <a:defRPr sz="1575" b="0">
                <a:solidFill>
                  <a:srgbClr val="536760"/>
                </a:solidFill>
              </a:defRPr>
            </a:lvl3pPr>
            <a:lvl4pPr algn="l">
              <a:buNone/>
              <a:defRPr sz="1575" b="0">
                <a:solidFill>
                  <a:srgbClr val="536760"/>
                </a:solidFill>
              </a:defRPr>
            </a:lvl4pPr>
            <a:lvl5pPr algn="l">
              <a:buNone/>
              <a:defRPr sz="1575" b="0">
                <a:solidFill>
                  <a:srgbClr val="536760"/>
                </a:solidFill>
              </a:defRPr>
            </a:lvl5pPr>
            <a:lvl6pPr algn="l">
              <a:buNone/>
              <a:defRPr sz="1575" b="0">
                <a:solidFill>
                  <a:srgbClr val="536760"/>
                </a:solidFill>
              </a:defRPr>
            </a:lvl6pPr>
            <a:lvl7pPr algn="l">
              <a:buNone/>
              <a:defRPr sz="1575" b="0">
                <a:solidFill>
                  <a:srgbClr val="536760"/>
                </a:solidFill>
              </a:defRPr>
            </a:lvl7pPr>
            <a:lvl8pPr algn="l">
              <a:buNone/>
              <a:defRPr sz="1575" b="0">
                <a:solidFill>
                  <a:srgbClr val="536760"/>
                </a:solidFill>
              </a:defRPr>
            </a:lvl8pPr>
            <a:lvl9pPr algn="l">
              <a:buNone/>
              <a:defRPr sz="15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75" b="0">
                <a:solidFill>
                  <a:srgbClr val="536760"/>
                </a:solidFill>
              </a:defRPr>
            </a:pPr>
            <a:r>
              <a:rPr sz="1575" b="0">
                <a:solidFill>
                  <a:srgbClr val="536760"/>
                </a:solidFill>
              </a:rPr>
              <a:t>105910496</a:t>
            </a:r>
            <a:endParaRPr sz="1575" b="0">
              <a:solidFill>
                <a:srgbClr val="536760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333875" y="523875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4634B"/>
                </a:solidFill>
              </a:defRPr>
            </a:defPPr>
            <a:lvl1pPr algn="l">
              <a:buNone/>
              <a:defRPr sz="1500" b="0">
                <a:solidFill>
                  <a:srgbClr val="14634B"/>
                </a:solidFill>
              </a:defRPr>
            </a:lvl1pPr>
            <a:lvl2pPr algn="l">
              <a:buNone/>
              <a:defRPr sz="1500" b="0">
                <a:solidFill>
                  <a:srgbClr val="14634B"/>
                </a:solidFill>
              </a:defRPr>
            </a:lvl2pPr>
            <a:lvl3pPr algn="l">
              <a:buNone/>
              <a:defRPr sz="1500" b="0">
                <a:solidFill>
                  <a:srgbClr val="14634B"/>
                </a:solidFill>
              </a:defRPr>
            </a:lvl3pPr>
            <a:lvl4pPr algn="l">
              <a:buNone/>
              <a:defRPr sz="1500" b="0">
                <a:solidFill>
                  <a:srgbClr val="14634B"/>
                </a:solidFill>
              </a:defRPr>
            </a:lvl4pPr>
            <a:lvl5pPr algn="l">
              <a:buNone/>
              <a:defRPr sz="1500" b="0">
                <a:solidFill>
                  <a:srgbClr val="14634B"/>
                </a:solidFill>
              </a:defRPr>
            </a:lvl5pPr>
            <a:lvl6pPr algn="l">
              <a:buNone/>
              <a:defRPr sz="1500" b="0">
                <a:solidFill>
                  <a:srgbClr val="14634B"/>
                </a:solidFill>
              </a:defRPr>
            </a:lvl6pPr>
            <a:lvl7pPr algn="l">
              <a:buNone/>
              <a:defRPr sz="1500" b="0">
                <a:solidFill>
                  <a:srgbClr val="14634B"/>
                </a:solidFill>
              </a:defRPr>
            </a:lvl7pPr>
            <a:lvl8pPr algn="l">
              <a:buNone/>
              <a:defRPr sz="1500" b="0">
                <a:solidFill>
                  <a:srgbClr val="14634B"/>
                </a:solidFill>
              </a:defRPr>
            </a:lvl8pPr>
            <a:lvl9pPr algn="l">
              <a:buNone/>
              <a:defRPr sz="15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4634B"/>
                </a:solidFill>
              </a:defRPr>
            </a:pPr>
            <a:r>
              <a:rPr sz="15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3"/>
              </a:rPr>
              <a:t>chen2000401@gmail.com</a:t>
            </a:r>
            <a:endParaRPr sz="15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3"/>
            </a:endParaRPr>
          </a:p>
        </p:txBody>
      </p:sp>
      <p:sp>
        <p:nvSpPr>
          <p:cNvPr id="16" name="會員、購物車與訂單"/>
          <p:cNvSpPr>
            <a:spLocks noGrp="1"/>
          </p:cNvSpPr>
          <p:nvPr/>
        </p:nvSpPr>
        <p:spPr>
          <a:xfrm>
            <a:off x="4333875" y="560070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7342E"/>
                </a:solidFill>
              </a:defRPr>
            </a:defPPr>
            <a:lvl1pPr algn="l">
              <a:buNone/>
              <a:defRPr sz="1500" b="0">
                <a:solidFill>
                  <a:srgbClr val="17342E"/>
                </a:solidFill>
              </a:defRPr>
            </a:lvl1pPr>
            <a:lvl2pPr algn="l">
              <a:buNone/>
              <a:defRPr sz="1500" b="0">
                <a:solidFill>
                  <a:srgbClr val="17342E"/>
                </a:solidFill>
              </a:defRPr>
            </a:lvl2pPr>
            <a:lvl3pPr algn="l">
              <a:buNone/>
              <a:defRPr sz="1500" b="0">
                <a:solidFill>
                  <a:srgbClr val="17342E"/>
                </a:solidFill>
              </a:defRPr>
            </a:lvl3pPr>
            <a:lvl4pPr algn="l">
              <a:buNone/>
              <a:defRPr sz="1500" b="0">
                <a:solidFill>
                  <a:srgbClr val="17342E"/>
                </a:solidFill>
              </a:defRPr>
            </a:lvl4pPr>
            <a:lvl5pPr algn="l">
              <a:buNone/>
              <a:defRPr sz="1500" b="0">
                <a:solidFill>
                  <a:srgbClr val="17342E"/>
                </a:solidFill>
              </a:defRPr>
            </a:lvl5pPr>
            <a:lvl6pPr algn="l">
              <a:buNone/>
              <a:defRPr sz="1500" b="0">
                <a:solidFill>
                  <a:srgbClr val="17342E"/>
                </a:solidFill>
              </a:defRPr>
            </a:lvl6pPr>
            <a:lvl7pPr algn="l">
              <a:buNone/>
              <a:defRPr sz="1500" b="0">
                <a:solidFill>
                  <a:srgbClr val="17342E"/>
                </a:solidFill>
              </a:defRPr>
            </a:lvl7pPr>
            <a:lvl8pPr algn="l">
              <a:buNone/>
              <a:defRPr sz="1500" b="0">
                <a:solidFill>
                  <a:srgbClr val="17342E"/>
                </a:solidFill>
              </a:defRPr>
            </a:lvl8pPr>
            <a:lvl9pPr algn="l">
              <a:buNone/>
              <a:defRPr sz="1500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7342E"/>
                </a:solidFill>
              </a:defRPr>
            </a:pPr>
            <a:r>
              <a:rPr sz="1500" b="0">
                <a:solidFill>
                  <a:srgbClr val="17342E"/>
                </a:solidFill>
              </a:rPr>
              <a:t>會員、購物車與訂單</a:t>
            </a:r>
            <a:endParaRPr sz="1500" b="0">
              <a:solidFill>
                <a:srgbClr val="17342E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48625" y="4476750"/>
            <a:ext cx="32385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025" b="0">
                <a:solidFill>
                  <a:srgbClr val="14634B"/>
                </a:solidFill>
              </a:defRPr>
            </a:defPPr>
            <a:lvl1pPr algn="l">
              <a:buNone/>
              <a:defRPr sz="2025" b="0">
                <a:solidFill>
                  <a:srgbClr val="14634B"/>
                </a:solidFill>
              </a:defRPr>
            </a:lvl1pPr>
            <a:lvl2pPr algn="l">
              <a:buNone/>
              <a:defRPr sz="2025" b="0">
                <a:solidFill>
                  <a:srgbClr val="14634B"/>
                </a:solidFill>
              </a:defRPr>
            </a:lvl2pPr>
            <a:lvl3pPr algn="l">
              <a:buNone/>
              <a:defRPr sz="2025" b="0">
                <a:solidFill>
                  <a:srgbClr val="14634B"/>
                </a:solidFill>
              </a:defRPr>
            </a:lvl3pPr>
            <a:lvl4pPr algn="l">
              <a:buNone/>
              <a:defRPr sz="2025" b="0">
                <a:solidFill>
                  <a:srgbClr val="14634B"/>
                </a:solidFill>
              </a:defRPr>
            </a:lvl4pPr>
            <a:lvl5pPr algn="l">
              <a:buNone/>
              <a:defRPr sz="2025" b="0">
                <a:solidFill>
                  <a:srgbClr val="14634B"/>
                </a:solidFill>
              </a:defRPr>
            </a:lvl5pPr>
            <a:lvl6pPr algn="l">
              <a:buNone/>
              <a:defRPr sz="2025" b="0">
                <a:solidFill>
                  <a:srgbClr val="14634B"/>
                </a:solidFill>
              </a:defRPr>
            </a:lvl6pPr>
            <a:lvl7pPr algn="l">
              <a:buNone/>
              <a:defRPr sz="2025" b="0">
                <a:solidFill>
                  <a:srgbClr val="14634B"/>
                </a:solidFill>
              </a:defRPr>
            </a:lvl7pPr>
            <a:lvl8pPr algn="l">
              <a:buNone/>
              <a:defRPr sz="2025" b="0">
                <a:solidFill>
                  <a:srgbClr val="14634B"/>
                </a:solidFill>
              </a:defRPr>
            </a:lvl8pPr>
            <a:lvl9pPr algn="l">
              <a:buNone/>
              <a:defRPr sz="2025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025" b="0">
                <a:solidFill>
                  <a:srgbClr val="14634B"/>
                </a:solidFill>
              </a:defRPr>
            </a:pPr>
            <a:r>
              <a:rPr sz="2025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4"/>
              </a:rPr>
              <a:t>黃健維 JEFF</a:t>
            </a:r>
            <a:endParaRPr sz="2025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4"/>
            </a:endParaRPr>
          </a:p>
        </p:txBody>
      </p:sp>
      <p:sp>
        <p:nvSpPr>
          <p:cNvPr id="18" name="106104063"/>
          <p:cNvSpPr>
            <a:spLocks noGrp="1"/>
          </p:cNvSpPr>
          <p:nvPr/>
        </p:nvSpPr>
        <p:spPr>
          <a:xfrm>
            <a:off x="8048625" y="4914900"/>
            <a:ext cx="3333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536760"/>
                </a:solidFill>
              </a:defRPr>
            </a:defPPr>
            <a:lvl1pPr algn="l">
              <a:buNone/>
              <a:defRPr sz="1575" b="0">
                <a:solidFill>
                  <a:srgbClr val="536760"/>
                </a:solidFill>
              </a:defRPr>
            </a:lvl1pPr>
            <a:lvl2pPr algn="l">
              <a:buNone/>
              <a:defRPr sz="1575" b="0">
                <a:solidFill>
                  <a:srgbClr val="536760"/>
                </a:solidFill>
              </a:defRPr>
            </a:lvl2pPr>
            <a:lvl3pPr algn="l">
              <a:buNone/>
              <a:defRPr sz="1575" b="0">
                <a:solidFill>
                  <a:srgbClr val="536760"/>
                </a:solidFill>
              </a:defRPr>
            </a:lvl3pPr>
            <a:lvl4pPr algn="l">
              <a:buNone/>
              <a:defRPr sz="1575" b="0">
                <a:solidFill>
                  <a:srgbClr val="536760"/>
                </a:solidFill>
              </a:defRPr>
            </a:lvl4pPr>
            <a:lvl5pPr algn="l">
              <a:buNone/>
              <a:defRPr sz="1575" b="0">
                <a:solidFill>
                  <a:srgbClr val="536760"/>
                </a:solidFill>
              </a:defRPr>
            </a:lvl5pPr>
            <a:lvl6pPr algn="l">
              <a:buNone/>
              <a:defRPr sz="1575" b="0">
                <a:solidFill>
                  <a:srgbClr val="536760"/>
                </a:solidFill>
              </a:defRPr>
            </a:lvl6pPr>
            <a:lvl7pPr algn="l">
              <a:buNone/>
              <a:defRPr sz="1575" b="0">
                <a:solidFill>
                  <a:srgbClr val="536760"/>
                </a:solidFill>
              </a:defRPr>
            </a:lvl7pPr>
            <a:lvl8pPr algn="l">
              <a:buNone/>
              <a:defRPr sz="1575" b="0">
                <a:solidFill>
                  <a:srgbClr val="536760"/>
                </a:solidFill>
              </a:defRPr>
            </a:lvl8pPr>
            <a:lvl9pPr algn="l">
              <a:buNone/>
              <a:defRPr sz="1575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575" b="0">
                <a:solidFill>
                  <a:srgbClr val="536760"/>
                </a:solidFill>
              </a:defRPr>
            </a:pPr>
            <a:r>
              <a:rPr sz="1575" b="0">
                <a:solidFill>
                  <a:srgbClr val="536760"/>
                </a:solidFill>
              </a:rPr>
              <a:t>106104063</a:t>
            </a:r>
            <a:endParaRPr sz="1575" b="0">
              <a:solidFill>
                <a:srgbClr val="536760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048625" y="523875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4634B"/>
                </a:solidFill>
              </a:defRPr>
            </a:defPPr>
            <a:lvl1pPr algn="l">
              <a:buNone/>
              <a:defRPr sz="1500" b="0">
                <a:solidFill>
                  <a:srgbClr val="14634B"/>
                </a:solidFill>
              </a:defRPr>
            </a:lvl1pPr>
            <a:lvl2pPr algn="l">
              <a:buNone/>
              <a:defRPr sz="1500" b="0">
                <a:solidFill>
                  <a:srgbClr val="14634B"/>
                </a:solidFill>
              </a:defRPr>
            </a:lvl2pPr>
            <a:lvl3pPr algn="l">
              <a:buNone/>
              <a:defRPr sz="1500" b="0">
                <a:solidFill>
                  <a:srgbClr val="14634B"/>
                </a:solidFill>
              </a:defRPr>
            </a:lvl3pPr>
            <a:lvl4pPr algn="l">
              <a:buNone/>
              <a:defRPr sz="1500" b="0">
                <a:solidFill>
                  <a:srgbClr val="14634B"/>
                </a:solidFill>
              </a:defRPr>
            </a:lvl4pPr>
            <a:lvl5pPr algn="l">
              <a:buNone/>
              <a:defRPr sz="1500" b="0">
                <a:solidFill>
                  <a:srgbClr val="14634B"/>
                </a:solidFill>
              </a:defRPr>
            </a:lvl5pPr>
            <a:lvl6pPr algn="l">
              <a:buNone/>
              <a:defRPr sz="1500" b="0">
                <a:solidFill>
                  <a:srgbClr val="14634B"/>
                </a:solidFill>
              </a:defRPr>
            </a:lvl6pPr>
            <a:lvl7pPr algn="l">
              <a:buNone/>
              <a:defRPr sz="1500" b="0">
                <a:solidFill>
                  <a:srgbClr val="14634B"/>
                </a:solidFill>
              </a:defRPr>
            </a:lvl7pPr>
            <a:lvl8pPr algn="l">
              <a:buNone/>
              <a:defRPr sz="1500" b="0">
                <a:solidFill>
                  <a:srgbClr val="14634B"/>
                </a:solidFill>
              </a:defRPr>
            </a:lvl8pPr>
            <a:lvl9pPr algn="l">
              <a:buNone/>
              <a:defRPr sz="1500" b="0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4634B"/>
                </a:solidFill>
              </a:defRPr>
            </a:pPr>
            <a:r>
              <a:rPr sz="1500">
                <a:solidFill>
                  <a:srgbClr val="14634B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4"/>
              </a:rPr>
              <a:t>jeff841117@gmail.com</a:t>
            </a:r>
            <a:endParaRPr sz="1500">
              <a:solidFill>
                <a:srgbClr val="14634B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4"/>
            </a:endParaRPr>
          </a:p>
        </p:txBody>
      </p:sp>
      <p:sp>
        <p:nvSpPr>
          <p:cNvPr id="20" name="AI 推薦、營運分析與後台"/>
          <p:cNvSpPr>
            <a:spLocks noGrp="1"/>
          </p:cNvSpPr>
          <p:nvPr/>
        </p:nvSpPr>
        <p:spPr>
          <a:xfrm>
            <a:off x="8048625" y="5600700"/>
            <a:ext cx="3524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17342E"/>
                </a:solidFill>
              </a:defRPr>
            </a:defPPr>
            <a:lvl1pPr algn="l">
              <a:buNone/>
              <a:defRPr sz="1500" b="0">
                <a:solidFill>
                  <a:srgbClr val="17342E"/>
                </a:solidFill>
              </a:defRPr>
            </a:lvl1pPr>
            <a:lvl2pPr algn="l">
              <a:buNone/>
              <a:defRPr sz="1500" b="0">
                <a:solidFill>
                  <a:srgbClr val="17342E"/>
                </a:solidFill>
              </a:defRPr>
            </a:lvl2pPr>
            <a:lvl3pPr algn="l">
              <a:buNone/>
              <a:defRPr sz="1500" b="0">
                <a:solidFill>
                  <a:srgbClr val="17342E"/>
                </a:solidFill>
              </a:defRPr>
            </a:lvl3pPr>
            <a:lvl4pPr algn="l">
              <a:buNone/>
              <a:defRPr sz="1500" b="0">
                <a:solidFill>
                  <a:srgbClr val="17342E"/>
                </a:solidFill>
              </a:defRPr>
            </a:lvl4pPr>
            <a:lvl5pPr algn="l">
              <a:buNone/>
              <a:defRPr sz="1500" b="0">
                <a:solidFill>
                  <a:srgbClr val="17342E"/>
                </a:solidFill>
              </a:defRPr>
            </a:lvl5pPr>
            <a:lvl6pPr algn="l">
              <a:buNone/>
              <a:defRPr sz="1500" b="0">
                <a:solidFill>
                  <a:srgbClr val="17342E"/>
                </a:solidFill>
              </a:defRPr>
            </a:lvl6pPr>
            <a:lvl7pPr algn="l">
              <a:buNone/>
              <a:defRPr sz="1500" b="0">
                <a:solidFill>
                  <a:srgbClr val="17342E"/>
                </a:solidFill>
              </a:defRPr>
            </a:lvl7pPr>
            <a:lvl8pPr algn="l">
              <a:buNone/>
              <a:defRPr sz="1500" b="0">
                <a:solidFill>
                  <a:srgbClr val="17342E"/>
                </a:solidFill>
              </a:defRPr>
            </a:lvl8pPr>
            <a:lvl9pPr algn="l">
              <a:buNone/>
              <a:defRPr sz="1500" b="0">
                <a:solidFill>
                  <a:srgbClr val="17342E"/>
                </a:solidFill>
              </a:defRPr>
            </a:lvl9pPr>
          </a:lstStyle>
          <a:p>
            <a:pPr algn="l">
              <a:buNone/>
              <a:defRPr sz="1500" b="0">
                <a:solidFill>
                  <a:srgbClr val="17342E"/>
                </a:solidFill>
              </a:defRPr>
            </a:pPr>
            <a:r>
              <a:rPr sz="1500" b="0">
                <a:solidFill>
                  <a:srgbClr val="17342E"/>
                </a:solidFill>
              </a:rPr>
              <a:t>AI 推薦、營運分析與後台</a:t>
            </a:r>
            <a:endParaRPr sz="1500" b="0">
              <a:solidFill>
                <a:srgbClr val="17342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19125" y="6191250"/>
            <a:ext cx="8191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650" b="0">
                <a:solidFill>
                  <a:srgbClr val="536760"/>
                </a:solidFill>
              </a:defRPr>
            </a:defPPr>
            <a:lvl1pPr algn="l">
              <a:buNone/>
              <a:defRPr sz="1650" b="0">
                <a:solidFill>
                  <a:srgbClr val="536760"/>
                </a:solidFill>
              </a:defRPr>
            </a:lvl1pPr>
            <a:lvl2pPr algn="l">
              <a:buNone/>
              <a:defRPr sz="1650" b="0">
                <a:solidFill>
                  <a:srgbClr val="536760"/>
                </a:solidFill>
              </a:defRPr>
            </a:lvl2pPr>
            <a:lvl3pPr algn="l">
              <a:buNone/>
              <a:defRPr sz="1650" b="0">
                <a:solidFill>
                  <a:srgbClr val="536760"/>
                </a:solidFill>
              </a:defRPr>
            </a:lvl3pPr>
            <a:lvl4pPr algn="l">
              <a:buNone/>
              <a:defRPr sz="1650" b="0">
                <a:solidFill>
                  <a:srgbClr val="536760"/>
                </a:solidFill>
              </a:defRPr>
            </a:lvl4pPr>
            <a:lvl5pPr algn="l">
              <a:buNone/>
              <a:defRPr sz="1650" b="0">
                <a:solidFill>
                  <a:srgbClr val="536760"/>
                </a:solidFill>
              </a:defRPr>
            </a:lvl5pPr>
            <a:lvl6pPr algn="l">
              <a:buNone/>
              <a:defRPr sz="1650" b="0">
                <a:solidFill>
                  <a:srgbClr val="536760"/>
                </a:solidFill>
              </a:defRPr>
            </a:lvl6pPr>
            <a:lvl7pPr algn="l">
              <a:buNone/>
              <a:defRPr sz="1650" b="0">
                <a:solidFill>
                  <a:srgbClr val="536760"/>
                </a:solidFill>
              </a:defRPr>
            </a:lvl7pPr>
            <a:lvl8pPr algn="l">
              <a:buNone/>
              <a:defRPr sz="1650" b="0">
                <a:solidFill>
                  <a:srgbClr val="536760"/>
                </a:solidFill>
              </a:defRPr>
            </a:lvl8pPr>
            <a:lvl9pPr algn="l">
              <a:buNone/>
              <a:defRPr sz="1650" b="0">
                <a:solidFill>
                  <a:srgbClr val="536760"/>
                </a:solidFill>
              </a:defRPr>
            </a:lvl9pPr>
          </a:lstStyle>
          <a:p>
            <a:pPr algn="l">
              <a:buNone/>
              <a:defRPr sz="1650" b="0">
                <a:solidFill>
                  <a:srgbClr val="536760"/>
                </a:solidFill>
              </a:defRPr>
            </a:pPr>
            <a:r>
              <a:rPr sz="1650">
                <a:solidFill>
                  <a:srgbClr val="536760"/>
                </a:solidFill>
                <a:latin typeface="微軟正黑體" panose="020B0604030504040204" charset="-120"/>
                <a:ea typeface="微軟正黑體" panose="020B0604030504040204" charset="-120"/>
                <a:cs typeface="微軟正黑體" panose="020B0604030504040204" charset="-120"/>
                <a:hlinkClick r:id="rId5"/>
              </a:rPr>
              <a:t>指導講師：簡志璁 Alvin　fcaibialvin@gmail.com</a:t>
            </a:r>
            <a:endParaRPr sz="1650">
              <a:solidFill>
                <a:srgbClr val="536760"/>
              </a:solidFill>
              <a:latin typeface="微軟正黑體" panose="020B0604030504040204" charset="-120"/>
              <a:ea typeface="微軟正黑體" panose="020B0604030504040204" charset="-120"/>
              <a:cs typeface="微軟正黑體" panose="020B0604030504040204" charset="-120"/>
              <a:hlinkClick r:id="rId5"/>
            </a:endParaRPr>
          </a:p>
        </p:txBody>
      </p:sp>
      <p:sp>
        <p:nvSpPr>
          <p:cNvPr id="22" name="Q &amp; A"/>
          <p:cNvSpPr>
            <a:spLocks noGrp="1"/>
          </p:cNvSpPr>
          <p:nvPr/>
        </p:nvSpPr>
        <p:spPr>
          <a:xfrm>
            <a:off x="9810750" y="6105525"/>
            <a:ext cx="180975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550" b="1">
                <a:solidFill>
                  <a:srgbClr val="14634B"/>
                </a:solidFill>
              </a:defRPr>
            </a:defPPr>
            <a:lvl1pPr algn="l">
              <a:buNone/>
              <a:defRPr sz="2550" b="1">
                <a:solidFill>
                  <a:srgbClr val="14634B"/>
                </a:solidFill>
              </a:defRPr>
            </a:lvl1pPr>
            <a:lvl2pPr algn="l">
              <a:buNone/>
              <a:defRPr sz="2550" b="1">
                <a:solidFill>
                  <a:srgbClr val="14634B"/>
                </a:solidFill>
              </a:defRPr>
            </a:lvl2pPr>
            <a:lvl3pPr algn="l">
              <a:buNone/>
              <a:defRPr sz="2550" b="1">
                <a:solidFill>
                  <a:srgbClr val="14634B"/>
                </a:solidFill>
              </a:defRPr>
            </a:lvl3pPr>
            <a:lvl4pPr algn="l">
              <a:buNone/>
              <a:defRPr sz="2550" b="1">
                <a:solidFill>
                  <a:srgbClr val="14634B"/>
                </a:solidFill>
              </a:defRPr>
            </a:lvl4pPr>
            <a:lvl5pPr algn="l">
              <a:buNone/>
              <a:defRPr sz="2550" b="1">
                <a:solidFill>
                  <a:srgbClr val="14634B"/>
                </a:solidFill>
              </a:defRPr>
            </a:lvl5pPr>
            <a:lvl6pPr algn="l">
              <a:buNone/>
              <a:defRPr sz="2550" b="1">
                <a:solidFill>
                  <a:srgbClr val="14634B"/>
                </a:solidFill>
              </a:defRPr>
            </a:lvl6pPr>
            <a:lvl7pPr algn="l">
              <a:buNone/>
              <a:defRPr sz="2550" b="1">
                <a:solidFill>
                  <a:srgbClr val="14634B"/>
                </a:solidFill>
              </a:defRPr>
            </a:lvl7pPr>
            <a:lvl8pPr algn="l">
              <a:buNone/>
              <a:defRPr sz="2550" b="1">
                <a:solidFill>
                  <a:srgbClr val="14634B"/>
                </a:solidFill>
              </a:defRPr>
            </a:lvl8pPr>
            <a:lvl9pPr algn="l">
              <a:buNone/>
              <a:defRPr sz="2550" b="1">
                <a:solidFill>
                  <a:srgbClr val="14634B"/>
                </a:solidFill>
              </a:defRPr>
            </a:lvl9pPr>
          </a:lstStyle>
          <a:p>
            <a:pPr algn="l">
              <a:buNone/>
              <a:defRPr sz="2550" b="1">
                <a:solidFill>
                  <a:srgbClr val="14634B"/>
                </a:solidFill>
              </a:defRPr>
            </a:pPr>
            <a:r>
              <a:rPr sz="2550" b="1">
                <a:solidFill>
                  <a:srgbClr val="14634B"/>
                </a:solidFill>
              </a:rPr>
              <a:t>Q &amp; A</a:t>
            </a:r>
            <a:endParaRPr sz="2550" b="1">
              <a:solidFill>
                <a:srgbClr val="14634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JhengHei"/>
        <a:ea typeface=""/>
        <a:cs typeface=""/>
      </a:majorFont>
      <a:minorFont>
        <a:latin typeface="Microsoft Jheng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JhengHei"/>
        <a:ea typeface=""/>
        <a:cs typeface=""/>
      </a:majorFont>
      <a:minorFont>
        <a:latin typeface="Microsoft Jheng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2652</Words>
  <Application>WPS 演示</Application>
  <PresentationFormat>Converted Presentation</PresentationFormat>
  <Paragraphs>428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新細明體</vt:lpstr>
      <vt:lpstr>Wingdings</vt:lpstr>
      <vt:lpstr>微軟正黑體</vt:lpstr>
      <vt:lpstr>Microsoft YaHei</vt:lpstr>
      <vt:lpstr>SimSun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Sam Wang</cp:lastModifiedBy>
  <cp:revision>2</cp:revision>
  <dcterms:created xsi:type="dcterms:W3CDTF">2026-10-21T13:46:09Z</dcterms:created>
  <dcterms:modified xsi:type="dcterms:W3CDTF">2026-10-21T13:47:15Z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3076-12.1.0.29162</vt:lpwstr>
  </property>
  <property fmtid="{D5CDD505-2E9C-101B-9397-08002B2CF9AE}" pid="3" name="ICV">
    <vt:lpwstr>54722CF2413B4D879328E9276C026A66_13</vt:lpwstr>
  </property>
</Properties>
</file>